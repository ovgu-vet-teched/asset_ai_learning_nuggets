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DM Sans Medium"/>
      <p:regular r:id="rId201314"/>
    </p:embeddedFont>
    <p:embeddedFont>
      <p:font typeface="Inter Bold"/>
      <p:regular r:id="rId201315"/>
    </p:embeddedFont>
    <p:embeddedFont>
      <p:font typeface="Inter"/>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2DB"/>
          </a:solidFill>
          <a:ln/>
        </p:spPr>
      </p:sp>
      <p:sp>
        <p:nvSpPr>
          <p:cNvPr id="3" name="Shape 1"/>
          <p:cNvSpPr/>
          <p:nvPr/>
        </p:nvSpPr>
        <p:spPr>
          <a:xfrm>
            <a:off x="0" y="0"/>
            <a:ext cx="12191695" cy="6858000"/>
          </a:xfrm>
          <a:prstGeom prst="rect">
            <a:avLst/>
          </a:prstGeom>
          <a:solidFill>
            <a:srgbClr val="F9F8F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OVGU-VET-TechEd/Self_Learning_Nuggets_AI_Basics/blob/main/01_AI_Orientation_V4.md" TargetMode="External"/><Relationship Id="rId4" Type="http://schemas.openxmlformats.org/officeDocument/2006/relationships/hyperlink" Target="https://liascript.github.io/course/?https://raw.githubusercontent.com/OVGU-VET-TechEd/Self_Learning_Nuggets_AI_Basics/refs/heads/main/01_AI_Orientation_V4.md#1" TargetMode="External"/><Relationship Id="rId1" Type="http://schemas.openxmlformats.org/officeDocument/2006/relationships/image" Target="../media/image-5-1.png"/><Relationship Id="rId3" Type="http://schemas.openxmlformats.org/officeDocument/2006/relationships/image" Target="../media/image-5-2.png"/><Relationship Id="rId5" Type="http://schemas.openxmlformats.org/officeDocument/2006/relationships/image" Target="../media/image-5-3.jpeg"/><Relationship Id="rId6" Type="http://schemas.openxmlformats.org/officeDocument/2006/relationships/image" Target="../media/image-5-4.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OVGU-VET-TechEd/Self_Learning_Nuggets_AI_Basics/blob/main/02_AI_Basics_V4.md" TargetMode="External"/><Relationship Id="rId4" Type="http://schemas.openxmlformats.org/officeDocument/2006/relationships/hyperlink" Target="https://liascript.github.io/course/?https://raw.githubusercontent.com/OVGU-VET-TechEd/Self_Learning_Nuggets_AI_Basics/refs/heads/main/02_AI_Basics_V4.md#1" TargetMode="External"/><Relationship Id="rId1" Type="http://schemas.openxmlformats.org/officeDocument/2006/relationships/image" Target="../media/image-6-1.png"/><Relationship Id="rId3" Type="http://schemas.openxmlformats.org/officeDocument/2006/relationships/image" Target="../media/image-6-2.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hyperlink" Target="https://github.com/OVGU-VET-TechEd/Self_Learning_Nuggets_AI_Basics/blob/main/03_AI_Tools_V4.md" TargetMode="External"/><Relationship Id="rId7" Type="http://schemas.openxmlformats.org/officeDocument/2006/relationships/hyperlink" Target="https://liascript.github.io/course/?https://raw.githubusercontent.com/OVGU-VET-TechEd/Self_Learning_Nuggets_AI_Basics/refs/heads/main/03_AI_Tools_V4.md#1" TargetMode="External"/><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6-1.png"/><Relationship Id="rId6" Type="http://schemas.openxmlformats.org/officeDocument/2006/relationships/image" Target="../media/image-6-2.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7" Type="http://schemas.openxmlformats.org/officeDocument/2006/relationships/hyperlink" Target="https://github.com/OVGU-VET-TechEd/Self_Learning_Nuggets_AI_Basics/blob/main/05_Ethics_V4.md" TargetMode="External"/><Relationship Id="rId9" Type="http://schemas.openxmlformats.org/officeDocument/2006/relationships/hyperlink" Target="https://liascript.github.io/course/?https://raw.githubusercontent.com/OVGU-VET-TechEd/Self_Learning_Nuggets_AI_Basics/refs/heads/main/04_Prompting_V4.md#1" TargetMode="External"/><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8" Type="http://schemas.openxmlformats.org/officeDocument/2006/relationships/image" Target="../media/image-8-7.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OVGU-VET-TechEd/Self_Learning_Nuggets_AI_Basics/blob/main/05_Quality_%26_Ethics_V2.md" TargetMode="External"/><Relationship Id="rId10" Type="http://schemas.openxmlformats.org/officeDocument/2006/relationships/hyperlink" Target="https://liascript.github.io/course/?https://raw.githubusercontent.com/OVGU-VET-TechEd/Self_Learning_Nuggets_AI_Basics/refs/heads/main/05_Ethics_V4.md#1" TargetMode="External"/><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7.png"/><Relationship Id="rId9" Type="http://schemas.openxmlformats.org/officeDocument/2006/relationships/image" Target="../media/image-9-8.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mailto:hannes.tegelbeckers@ovgu.de" TargetMode="External"/><Relationship Id="rId2" Type="http://schemas.openxmlformats.org/officeDocument/2006/relationships/image" Target="../media/image-10-1.jpe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9F8F5">
              <a:alpha val="85000"/>
            </a:srgbClr>
          </a:solidFill>
          <a:ln/>
        </p:spPr>
      </p:sp>
      <p:sp>
        <p:nvSpPr>
          <p:cNvPr id="4" name="Text 1"/>
          <p:cNvSpPr/>
          <p:nvPr/>
        </p:nvSpPr>
        <p:spPr>
          <a:xfrm>
            <a:off x="720012" y="1693069"/>
            <a:ext cx="10751670" cy="1285875"/>
          </a:xfrm>
          <a:prstGeom prst="rect">
            <a:avLst/>
          </a:prstGeom>
          <a:noFill/>
          <a:ln/>
        </p:spPr>
        <p:txBody>
          <a:bodyPr wrap="square" lIns="0" tIns="0" rIns="0" bIns="0" rtlCol="0" anchor="t">
            <a:normAutofit/>
          </a:bodyPr>
          <a:lstStyle/>
          <a:p>
            <a:pPr algn="l" indent="0" marL="0">
              <a:lnSpc>
                <a:spcPct val="104000"/>
              </a:lnSpc>
              <a:buNone/>
            </a:pPr>
            <a:r>
              <a:rPr lang="en-US" sz="4000" dirty="0">
                <a:solidFill>
                  <a:srgbClr val="161613"/>
                </a:solidFill>
                <a:latin typeface="DM Sans Medium" pitchFamily="34" charset="0"/>
                <a:ea typeface="DM Sans Medium" pitchFamily="34" charset="-122"/>
                <a:cs typeface="DM Sans Medium" pitchFamily="34" charset="-120"/>
              </a:rPr>
              <a:t>ASSET: AI for Skills, Sustainability and Training</a:t>
            </a:r>
            <a:endParaRPr lang="en-US" sz="4000" dirty="0"/>
          </a:p>
        </p:txBody>
      </p:sp>
      <p:sp>
        <p:nvSpPr>
          <p:cNvPr id="5" name="Text 2"/>
          <p:cNvSpPr/>
          <p:nvPr/>
        </p:nvSpPr>
        <p:spPr>
          <a:xfrm>
            <a:off x="415220" y="3287514"/>
            <a:ext cx="11361255" cy="329208"/>
          </a:xfrm>
          <a:prstGeom prst="rect">
            <a:avLst/>
          </a:prstGeom>
          <a:noFill/>
          <a:ln/>
        </p:spPr>
        <p:txBody>
          <a:bodyPr wrap="none" lIns="0" tIns="0" rIns="0" bIns="0" rtlCol="0" anchor="t"/>
          <a:lstStyle/>
          <a:p>
            <a:pPr algn="ctr" indent="0" marL="0">
              <a:lnSpc>
                <a:spcPct val="133000"/>
              </a:lnSpc>
              <a:buNone/>
            </a:pPr>
            <a:r>
              <a:rPr lang="en-US" sz="1600" dirty="0">
                <a:solidFill>
                  <a:srgbClr val="161613"/>
                </a:solidFill>
                <a:latin typeface="Inter" pitchFamily="34" charset="0"/>
                <a:ea typeface="Inter" pitchFamily="34" charset="-122"/>
                <a:cs typeface="Inter" pitchFamily="34" charset="-120"/>
              </a:rPr>
              <a:t>Self-Learning Nugget Series in TVET Teacher Education</a:t>
            </a:r>
            <a:endParaRPr lang="en-US" sz="1600" dirty="0"/>
          </a:p>
        </p:txBody>
      </p:sp>
      <p:sp>
        <p:nvSpPr>
          <p:cNvPr id="6" name="Text 3"/>
          <p:cNvSpPr/>
          <p:nvPr/>
        </p:nvSpPr>
        <p:spPr>
          <a:xfrm>
            <a:off x="720012" y="3848100"/>
            <a:ext cx="10751670" cy="1316831"/>
          </a:xfrm>
          <a:prstGeom prst="rect">
            <a:avLst/>
          </a:prstGeom>
          <a:noFill/>
          <a:ln/>
        </p:spPr>
        <p:txBody>
          <a:bodyPr wrap="square" lIns="0" tIns="0" rIns="0" bIns="0" rtlCol="0" anchor="t">
            <a:normAutofit/>
          </a:bodyPr>
          <a:lstStyle/>
          <a:p>
            <a:pPr algn="l" indent="0" marL="0">
              <a:lnSpc>
                <a:spcPct val="133000"/>
              </a:lnSpc>
              <a:buNone/>
            </a:pPr>
            <a:r>
              <a:rPr lang="en-US" sz="1600" dirty="0">
                <a:solidFill>
                  <a:srgbClr val="161613"/>
                </a:solidFill>
                <a:latin typeface="Inter" pitchFamily="34" charset="0"/>
                <a:ea typeface="Inter" pitchFamily="34" charset="-122"/>
                <a:cs typeface="Inter" pitchFamily="34" charset="-120"/>
              </a:rPr>
              <a:t>Welcome to the comprehensive course information guide for the ASSET project, a groundbreaking initiative designed to transform vocational education through artificial intelligence. This innovative programme represents a collaborative effort between UNESCO-UNEVOC Network partners to equip TVET educators with essential AI literacy skills and practical tools for the digital 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0012" y="568920"/>
            <a:ext cx="10751670" cy="421878"/>
          </a:xfrm>
          <a:prstGeom prst="rect">
            <a:avLst/>
          </a:prstGeom>
          <a:noFill/>
          <a:ln/>
        </p:spPr>
        <p:txBody>
          <a:bodyPr wrap="none" lIns="0" tIns="0" rIns="0" bIns="0" rtlCol="0" anchor="t"/>
          <a:lstStyle/>
          <a:p>
            <a:pPr algn="l" indent="0" marL="0">
              <a:lnSpc>
                <a:spcPct val="104000"/>
              </a:lnSpc>
              <a:buNone/>
            </a:pPr>
            <a:r>
              <a:rPr lang="en-US" sz="2650" dirty="0">
                <a:solidFill>
                  <a:srgbClr val="161613"/>
                </a:solidFill>
                <a:latin typeface="DM Sans Medium" pitchFamily="34" charset="0"/>
                <a:ea typeface="DM Sans Medium" pitchFamily="34" charset="-122"/>
                <a:cs typeface="DM Sans Medium" pitchFamily="34" charset="-120"/>
              </a:rPr>
              <a:t>Project Background &amp; Global Initiative</a:t>
            </a:r>
            <a:endParaRPr lang="en-US" sz="2650" dirty="0"/>
          </a:p>
        </p:txBody>
      </p:sp>
      <p:sp>
        <p:nvSpPr>
          <p:cNvPr id="3" name="Text 1"/>
          <p:cNvSpPr/>
          <p:nvPr/>
        </p:nvSpPr>
        <p:spPr>
          <a:xfrm>
            <a:off x="720012" y="1203325"/>
            <a:ext cx="6319183" cy="2306042"/>
          </a:xfrm>
          <a:prstGeom prst="rect">
            <a:avLst/>
          </a:prstGeom>
          <a:noFill/>
          <a:ln/>
        </p:spPr>
        <p:txBody>
          <a:bodyPr wrap="square" lIns="0" tIns="0" rIns="0" bIns="0" rtlCol="0" anchor="t">
            <a:normAutofit/>
          </a:bodyPr>
          <a:lstStyle/>
          <a:p>
            <a:pPr algn="l" indent="0" marL="0">
              <a:lnSpc>
                <a:spcPct val="110000"/>
              </a:lnSpc>
              <a:spcAft>
                <a:spcPts val="600"/>
              </a:spcAft>
              <a:buNone/>
            </a:pPr>
            <a:r>
              <a:rPr lang="en-US" sz="1050" dirty="0">
                <a:solidFill>
                  <a:srgbClr val="161613"/>
                </a:solidFill>
                <a:latin typeface="Inter" pitchFamily="34" charset="0"/>
                <a:ea typeface="Inter" pitchFamily="34" charset="-122"/>
                <a:cs typeface="Inter" pitchFamily="34" charset="-120"/>
              </a:rPr>
              <a:t>The </a:t>
            </a:r>
            <a:pPr algn="l" indent="0" marL="0">
              <a:lnSpc>
                <a:spcPct val="110000"/>
              </a:lnSpc>
              <a:spcAft>
                <a:spcPts val="600"/>
              </a:spcAft>
              <a:buNone/>
            </a:pPr>
            <a:r>
              <a:rPr lang="en-US" sz="1050" dirty="0">
                <a:solidFill>
                  <a:srgbClr val="28282F"/>
                </a:solidFill>
                <a:latin typeface="Inter" pitchFamily="34" charset="0"/>
                <a:ea typeface="Inter" pitchFamily="34" charset="-122"/>
                <a:cs typeface="Inter" pitchFamily="34" charset="-120"/>
              </a:rPr>
              <a:t>ASSET project</a:t>
            </a:r>
            <a:pPr algn="l" indent="0" marL="0">
              <a:lnSpc>
                <a:spcPct val="110000"/>
              </a:lnSpc>
              <a:spcAft>
                <a:spcPts val="600"/>
              </a:spcAft>
              <a:buNone/>
            </a:pPr>
            <a:r>
              <a:rPr lang="en-US" sz="1050" dirty="0">
                <a:solidFill>
                  <a:srgbClr val="161613"/>
                </a:solidFill>
                <a:latin typeface="Inter" pitchFamily="34" charset="0"/>
                <a:ea typeface="Inter" pitchFamily="34" charset="-122"/>
                <a:cs typeface="Inter" pitchFamily="34" charset="-120"/>
              </a:rPr>
              <a:t> emerges as a pioneering component of the UNESCO-UNEVOC Network Coaction Initiative, representing a truly international collaboration. Led by HWK OWL (Chamber of Skilled Crafts Ostwestfalen-Lippe zu Bielefeld), this ambitious undertaking unites expertise from Magdeburg, Sri Lanka, and Mauritius UNEVOC Centres.</a:t>
            </a:r>
            <a:endParaRPr lang="en-US" sz="1050" dirty="0"/>
          </a:p>
          <a:p>
            <a:pPr algn="l" indent="0" marL="0">
              <a:lnSpc>
                <a:spcPct val="110000"/>
              </a:lnSpc>
              <a:spcAft>
                <a:spcPts val="600"/>
              </a:spcAft>
              <a:buNone/>
            </a:pPr>
            <a:r>
              <a:rPr lang="en-US" sz="1050" dirty="0">
                <a:solidFill>
                  <a:srgbClr val="161613"/>
                </a:solidFill>
                <a:latin typeface="Inter" pitchFamily="34" charset="0"/>
                <a:ea typeface="Inter" pitchFamily="34" charset="-122"/>
                <a:cs typeface="Inter" pitchFamily="34" charset="-120"/>
              </a:rPr>
              <a:t>At its core, the project develops AI-supported, open-access self-learning materials specifically tailored for vocational teachers and trainers worldwide. The course utilises LiaScript, an innovative open-source platform that enables interactive activities, supports offline use, and facilitates multilingual adaptation to serve diverse global communities.</a:t>
            </a:r>
            <a:endParaRPr lang="en-US" sz="1050" dirty="0"/>
          </a:p>
          <a:p>
            <a:pPr algn="l" indent="0" marL="0">
              <a:lnSpc>
                <a:spcPct val="110000"/>
              </a:lnSpc>
              <a:buNone/>
            </a:pPr>
            <a:r>
              <a:rPr lang="en-US" sz="1050" dirty="0">
                <a:solidFill>
                  <a:srgbClr val="161613"/>
                </a:solidFill>
                <a:latin typeface="Inter" pitchFamily="34" charset="0"/>
                <a:ea typeface="Inter" pitchFamily="34" charset="-122"/>
                <a:cs typeface="Inter" pitchFamily="34" charset="-120"/>
              </a:rPr>
              <a:t>This initiative directly supports two critical Sustainable Development Goals: SDG 4.4, which focuses on developing skills for work and employment, and SDG 8.5, which promotes decent work opportunities for all. By bridging the gap between traditional vocational education and emerging AI technologies, ASSET positions educators at the forefront of educational innovation.</a:t>
            </a:r>
            <a:endParaRPr lang="en-US" sz="1050" dirty="0"/>
          </a:p>
        </p:txBody>
      </p:sp>
      <p:pic>
        <p:nvPicPr>
          <p:cNvPr id="4" name="Image 0" descr="preencoded.png">    </p:cNvPr>
          <p:cNvPicPr>
            <a:picLocks noChangeAspect="1"/>
          </p:cNvPicPr>
          <p:nvPr/>
        </p:nvPicPr>
        <p:blipFill>
          <a:blip r:embed="rId1"/>
          <a:stretch>
            <a:fillRect/>
          </a:stretch>
        </p:blipFill>
        <p:spPr>
          <a:xfrm>
            <a:off x="7374944" y="1223268"/>
            <a:ext cx="4102990" cy="4103092"/>
          </a:xfrm>
          <a:prstGeom prst="rect">
            <a:avLst/>
          </a:prstGeom>
        </p:spPr>
      </p:pic>
      <p:sp>
        <p:nvSpPr>
          <p:cNvPr id="5" name="Shape 2"/>
          <p:cNvSpPr/>
          <p:nvPr/>
        </p:nvSpPr>
        <p:spPr>
          <a:xfrm>
            <a:off x="7374944" y="5425976"/>
            <a:ext cx="4102990" cy="763488"/>
          </a:xfrm>
          <a:prstGeom prst="roundRect">
            <a:avLst>
              <a:gd name="adj" fmla="val 2653"/>
            </a:avLst>
          </a:prstGeom>
          <a:solidFill>
            <a:srgbClr val="B6D6FC"/>
          </a:solidFill>
          <a:ln/>
        </p:spPr>
      </p:sp>
      <p:pic>
        <p:nvPicPr>
          <p:cNvPr id="6" name="Image 1" descr="preencoded.png">    </p:cNvPr>
          <p:cNvPicPr>
            <a:picLocks noChangeAspect="1"/>
          </p:cNvPicPr>
          <p:nvPr/>
        </p:nvPicPr>
        <p:blipFill>
          <a:blip r:embed="rId2"/>
          <a:stretch>
            <a:fillRect/>
          </a:stretch>
        </p:blipFill>
        <p:spPr>
          <a:xfrm>
            <a:off x="7509878" y="5569942"/>
            <a:ext cx="168767" cy="134938"/>
          </a:xfrm>
          <a:prstGeom prst="rect">
            <a:avLst/>
          </a:prstGeom>
        </p:spPr>
      </p:pic>
      <p:sp>
        <p:nvSpPr>
          <p:cNvPr id="7" name="Text 3"/>
          <p:cNvSpPr/>
          <p:nvPr/>
        </p:nvSpPr>
        <p:spPr>
          <a:xfrm>
            <a:off x="7813579" y="5539383"/>
            <a:ext cx="3529420" cy="536674"/>
          </a:xfrm>
          <a:prstGeom prst="rect">
            <a:avLst/>
          </a:prstGeom>
          <a:noFill/>
          <a:ln/>
        </p:spPr>
        <p:txBody>
          <a:bodyPr wrap="square" lIns="0" tIns="0" rIns="0" bIns="0" rtlCol="0" anchor="t">
            <a:normAutofit/>
          </a:bodyPr>
          <a:lstStyle/>
          <a:p>
            <a:pPr algn="l" indent="0" marL="0">
              <a:lnSpc>
                <a:spcPct val="110000"/>
              </a:lnSpc>
              <a:buNone/>
            </a:pPr>
            <a:r>
              <a:rPr lang="en-US" sz="1050" b="1" dirty="0">
                <a:solidFill>
                  <a:srgbClr val="000000"/>
                </a:solidFill>
                <a:latin typeface="Inter Bold" pitchFamily="34" charset="0"/>
                <a:ea typeface="Inter Bold" pitchFamily="34" charset="-122"/>
                <a:cs typeface="Inter Bold" pitchFamily="34" charset="-120"/>
              </a:rPr>
              <a:t>Key Partnership:</a:t>
            </a:r>
            <a:pPr algn="l" indent="0" marL="0">
              <a:lnSpc>
                <a:spcPct val="110000"/>
              </a:lnSpc>
              <a:buNone/>
            </a:pPr>
            <a:r>
              <a:rPr lang="en-US" sz="1050" dirty="0">
                <a:solidFill>
                  <a:srgbClr val="000000"/>
                </a:solidFill>
                <a:latin typeface="Inter" pitchFamily="34" charset="0"/>
                <a:ea typeface="Inter" pitchFamily="34" charset="-122"/>
                <a:cs typeface="Inter" pitchFamily="34" charset="-120"/>
              </a:rPr>
              <a:t> UNESCO-UNEVOC Network collaboration spanning four countries and multiple expertise areas.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0012" y="882352"/>
            <a:ext cx="10751670" cy="572591"/>
          </a:xfrm>
          <a:prstGeom prst="rect">
            <a:avLst/>
          </a:prstGeom>
          <a:noFill/>
          <a:ln/>
        </p:spPr>
        <p:txBody>
          <a:bodyPr wrap="none" lIns="0" tIns="0" rIns="0" bIns="0" rtlCol="0" anchor="t"/>
          <a:lstStyle/>
          <a:p>
            <a:pPr algn="l" indent="0" marL="0">
              <a:lnSpc>
                <a:spcPct val="104000"/>
              </a:lnSpc>
              <a:buNone/>
            </a:pPr>
            <a:r>
              <a:rPr lang="en-US" sz="3600" dirty="0">
                <a:solidFill>
                  <a:srgbClr val="161613"/>
                </a:solidFill>
                <a:latin typeface="DM Sans Medium" pitchFamily="34" charset="0"/>
                <a:ea typeface="DM Sans Medium" pitchFamily="34" charset="-122"/>
                <a:cs typeface="DM Sans Medium" pitchFamily="34" charset="-120"/>
              </a:rPr>
              <a:t>Strategic Objectives &amp; Learning Outcomes</a:t>
            </a:r>
            <a:endParaRPr lang="en-US" sz="3600" dirty="0"/>
          </a:p>
        </p:txBody>
      </p:sp>
      <p:sp>
        <p:nvSpPr>
          <p:cNvPr id="3" name="Shape 1"/>
          <p:cNvSpPr/>
          <p:nvPr/>
        </p:nvSpPr>
        <p:spPr>
          <a:xfrm>
            <a:off x="720012" y="1781274"/>
            <a:ext cx="3475149" cy="3456484"/>
          </a:xfrm>
          <a:prstGeom prst="roundRect">
            <a:avLst>
              <a:gd name="adj" fmla="val 795"/>
            </a:avLst>
          </a:prstGeom>
          <a:solidFill>
            <a:srgbClr val="EDEBE3"/>
          </a:solidFill>
          <a:ln/>
        </p:spPr>
      </p:sp>
      <p:sp>
        <p:nvSpPr>
          <p:cNvPr id="4" name="Text 2"/>
          <p:cNvSpPr/>
          <p:nvPr/>
        </p:nvSpPr>
        <p:spPr>
          <a:xfrm>
            <a:off x="903166" y="1964432"/>
            <a:ext cx="3108843" cy="286345"/>
          </a:xfrm>
          <a:prstGeom prst="rect">
            <a:avLst/>
          </a:prstGeom>
          <a:noFill/>
          <a:ln/>
        </p:spPr>
        <p:txBody>
          <a:bodyPr wrap="none" lIns="0" tIns="0" rIns="0" bIns="0" rtlCol="0" anchor="t"/>
          <a:lstStyle/>
          <a:p>
            <a:pPr algn="l" indent="0" marL="0">
              <a:lnSpc>
                <a:spcPct val="104000"/>
              </a:lnSpc>
              <a:buNone/>
            </a:pPr>
            <a:r>
              <a:rPr lang="en-US" sz="1800" dirty="0">
                <a:solidFill>
                  <a:srgbClr val="161613"/>
                </a:solidFill>
                <a:latin typeface="DM Sans Medium" pitchFamily="34" charset="0"/>
                <a:ea typeface="DM Sans Medium" pitchFamily="34" charset="-122"/>
                <a:cs typeface="DM Sans Medium" pitchFamily="34" charset="-120"/>
              </a:rPr>
              <a:t>AI Literacy Development</a:t>
            </a:r>
            <a:endParaRPr lang="en-US" sz="1800" dirty="0"/>
          </a:p>
        </p:txBody>
      </p:sp>
      <p:sp>
        <p:nvSpPr>
          <p:cNvPr id="5" name="Text 3"/>
          <p:cNvSpPr/>
          <p:nvPr/>
        </p:nvSpPr>
        <p:spPr>
          <a:xfrm>
            <a:off x="903166" y="2348607"/>
            <a:ext cx="3108843" cy="1662708"/>
          </a:xfrm>
          <a:prstGeom prst="rect">
            <a:avLst/>
          </a:prstGeom>
          <a:noFill/>
          <a:ln/>
        </p:spPr>
        <p:txBody>
          <a:bodyPr wrap="square" lIns="0" tIns="0" rIns="0" bIns="0" rtlCol="0" anchor="t">
            <a:normAutofit/>
          </a:bodyPr>
          <a:lstStyle/>
          <a:p>
            <a:pPr algn="l" indent="0" marL="0">
              <a:lnSpc>
                <a:spcPct val="126000"/>
              </a:lnSpc>
              <a:buNone/>
            </a:pPr>
            <a:r>
              <a:rPr lang="en-US" sz="1400" dirty="0">
                <a:solidFill>
                  <a:srgbClr val="161613"/>
                </a:solidFill>
                <a:latin typeface="Inter" pitchFamily="34" charset="0"/>
                <a:ea typeface="Inter" pitchFamily="34" charset="-122"/>
                <a:cs typeface="Inter" pitchFamily="34" charset="-120"/>
              </a:rPr>
              <a:t>Equip teachers and trainers with comprehensive AI literacy skills, enabling them to understand, evaluate, and integrate artificial intelligence technologies effectively within their educational practices.</a:t>
            </a:r>
            <a:endParaRPr lang="en-US" sz="1400" dirty="0"/>
          </a:p>
        </p:txBody>
      </p:sp>
      <p:sp>
        <p:nvSpPr>
          <p:cNvPr id="6" name="Text 4"/>
          <p:cNvSpPr/>
          <p:nvPr/>
        </p:nvSpPr>
        <p:spPr>
          <a:xfrm>
            <a:off x="903166" y="4109145"/>
            <a:ext cx="3108843" cy="945455"/>
          </a:xfrm>
          <a:prstGeom prst="rect">
            <a:avLst/>
          </a:prstGeom>
          <a:noFill/>
          <a:ln/>
        </p:spPr>
        <p:txBody>
          <a:bodyPr wrap="square" lIns="0" tIns="0" rIns="0" bIns="0" rtlCol="0" anchor="t">
            <a:normAutofit/>
          </a:bodyPr>
          <a:lstStyle/>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Foundational AI concepts</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Practical application methods</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Critical evaluation skills</a:t>
            </a:r>
            <a:endParaRPr lang="en-US" sz="1400" dirty="0"/>
          </a:p>
        </p:txBody>
      </p:sp>
      <p:sp>
        <p:nvSpPr>
          <p:cNvPr id="7" name="Shape 5"/>
          <p:cNvSpPr/>
          <p:nvPr/>
        </p:nvSpPr>
        <p:spPr>
          <a:xfrm>
            <a:off x="4358273" y="1781274"/>
            <a:ext cx="3475149" cy="3456484"/>
          </a:xfrm>
          <a:prstGeom prst="roundRect">
            <a:avLst>
              <a:gd name="adj" fmla="val 795"/>
            </a:avLst>
          </a:prstGeom>
          <a:solidFill>
            <a:srgbClr val="EDEBE3"/>
          </a:solidFill>
          <a:ln/>
        </p:spPr>
      </p:sp>
      <p:sp>
        <p:nvSpPr>
          <p:cNvPr id="8" name="Text 6"/>
          <p:cNvSpPr/>
          <p:nvPr/>
        </p:nvSpPr>
        <p:spPr>
          <a:xfrm>
            <a:off x="4541426" y="1964432"/>
            <a:ext cx="3108843" cy="286345"/>
          </a:xfrm>
          <a:prstGeom prst="rect">
            <a:avLst/>
          </a:prstGeom>
          <a:noFill/>
          <a:ln/>
        </p:spPr>
        <p:txBody>
          <a:bodyPr wrap="none" lIns="0" tIns="0" rIns="0" bIns="0" rtlCol="0" anchor="t"/>
          <a:lstStyle/>
          <a:p>
            <a:pPr algn="l" indent="0" marL="0">
              <a:lnSpc>
                <a:spcPct val="104000"/>
              </a:lnSpc>
              <a:buNone/>
            </a:pPr>
            <a:r>
              <a:rPr lang="en-US" sz="1800" dirty="0">
                <a:solidFill>
                  <a:srgbClr val="161613"/>
                </a:solidFill>
                <a:latin typeface="DM Sans Medium" pitchFamily="34" charset="0"/>
                <a:ea typeface="DM Sans Medium" pitchFamily="34" charset="-122"/>
                <a:cs typeface="DM Sans Medium" pitchFamily="34" charset="-120"/>
              </a:rPr>
              <a:t>Practical Tool Mastery</a:t>
            </a:r>
            <a:endParaRPr lang="en-US" sz="1800" dirty="0"/>
          </a:p>
        </p:txBody>
      </p:sp>
      <p:sp>
        <p:nvSpPr>
          <p:cNvPr id="9" name="Text 7"/>
          <p:cNvSpPr/>
          <p:nvPr/>
        </p:nvSpPr>
        <p:spPr>
          <a:xfrm>
            <a:off x="4541426" y="2348607"/>
            <a:ext cx="3108843" cy="1385590"/>
          </a:xfrm>
          <a:prstGeom prst="rect">
            <a:avLst/>
          </a:prstGeom>
          <a:noFill/>
          <a:ln/>
        </p:spPr>
        <p:txBody>
          <a:bodyPr wrap="square" lIns="0" tIns="0" rIns="0" bIns="0" rtlCol="0" anchor="t">
            <a:normAutofit/>
          </a:bodyPr>
          <a:lstStyle/>
          <a:p>
            <a:pPr algn="l" indent="0" marL="0">
              <a:lnSpc>
                <a:spcPct val="126000"/>
              </a:lnSpc>
              <a:buNone/>
            </a:pPr>
            <a:r>
              <a:rPr lang="en-US" sz="1400" dirty="0">
                <a:solidFill>
                  <a:srgbClr val="161613"/>
                </a:solidFill>
                <a:latin typeface="Inter" pitchFamily="34" charset="0"/>
                <a:ea typeface="Inter" pitchFamily="34" charset="-122"/>
                <a:cs typeface="Inter" pitchFamily="34" charset="-120"/>
              </a:rPr>
              <a:t>Provide hands-on experience with cutting-edge AI tools specifically selected for their relevance and applicability in vocational education and training environments.</a:t>
            </a:r>
            <a:endParaRPr lang="en-US" sz="1400" dirty="0"/>
          </a:p>
        </p:txBody>
      </p:sp>
      <p:sp>
        <p:nvSpPr>
          <p:cNvPr id="10" name="Text 8"/>
          <p:cNvSpPr/>
          <p:nvPr/>
        </p:nvSpPr>
        <p:spPr>
          <a:xfrm>
            <a:off x="4541426" y="3832027"/>
            <a:ext cx="3108843" cy="945455"/>
          </a:xfrm>
          <a:prstGeom prst="rect">
            <a:avLst/>
          </a:prstGeom>
          <a:noFill/>
          <a:ln/>
        </p:spPr>
        <p:txBody>
          <a:bodyPr wrap="square" lIns="0" tIns="0" rIns="0" bIns="0" rtlCol="0" anchor="t">
            <a:normAutofit/>
          </a:bodyPr>
          <a:lstStyle/>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Interactive demonstrations</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Real-world applications</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Implementation strategies</a:t>
            </a:r>
            <a:endParaRPr lang="en-US" sz="1400" dirty="0"/>
          </a:p>
        </p:txBody>
      </p:sp>
      <p:sp>
        <p:nvSpPr>
          <p:cNvPr id="11" name="Shape 9"/>
          <p:cNvSpPr/>
          <p:nvPr/>
        </p:nvSpPr>
        <p:spPr>
          <a:xfrm>
            <a:off x="7996534" y="1781274"/>
            <a:ext cx="3475149" cy="3456484"/>
          </a:xfrm>
          <a:prstGeom prst="roundRect">
            <a:avLst>
              <a:gd name="adj" fmla="val 795"/>
            </a:avLst>
          </a:prstGeom>
          <a:solidFill>
            <a:srgbClr val="EDEBE3"/>
          </a:solidFill>
          <a:ln/>
        </p:spPr>
      </p:sp>
      <p:sp>
        <p:nvSpPr>
          <p:cNvPr id="12" name="Text 10"/>
          <p:cNvSpPr/>
          <p:nvPr/>
        </p:nvSpPr>
        <p:spPr>
          <a:xfrm>
            <a:off x="8179687" y="1964432"/>
            <a:ext cx="3108843" cy="286345"/>
          </a:xfrm>
          <a:prstGeom prst="rect">
            <a:avLst/>
          </a:prstGeom>
          <a:noFill/>
          <a:ln/>
        </p:spPr>
        <p:txBody>
          <a:bodyPr wrap="none" lIns="0" tIns="0" rIns="0" bIns="0" rtlCol="0" anchor="t"/>
          <a:lstStyle/>
          <a:p>
            <a:pPr algn="l" indent="0" marL="0">
              <a:lnSpc>
                <a:spcPct val="104000"/>
              </a:lnSpc>
              <a:buNone/>
            </a:pPr>
            <a:r>
              <a:rPr lang="en-US" sz="1800" dirty="0">
                <a:solidFill>
                  <a:srgbClr val="161613"/>
                </a:solidFill>
                <a:latin typeface="DM Sans Medium" pitchFamily="34" charset="0"/>
                <a:ea typeface="DM Sans Medium" pitchFamily="34" charset="-122"/>
                <a:cs typeface="DM Sans Medium" pitchFamily="34" charset="-120"/>
              </a:rPr>
              <a:t>Flexible Learning Framework</a:t>
            </a:r>
            <a:endParaRPr lang="en-US" sz="1800" dirty="0"/>
          </a:p>
        </p:txBody>
      </p:sp>
      <p:sp>
        <p:nvSpPr>
          <p:cNvPr id="13" name="Text 11"/>
          <p:cNvSpPr/>
          <p:nvPr/>
        </p:nvSpPr>
        <p:spPr>
          <a:xfrm>
            <a:off x="8179687" y="2348607"/>
            <a:ext cx="3108843" cy="1662708"/>
          </a:xfrm>
          <a:prstGeom prst="rect">
            <a:avLst/>
          </a:prstGeom>
          <a:noFill/>
          <a:ln/>
        </p:spPr>
        <p:txBody>
          <a:bodyPr wrap="square" lIns="0" tIns="0" rIns="0" bIns="0" rtlCol="0" anchor="t">
            <a:normAutofit/>
          </a:bodyPr>
          <a:lstStyle/>
          <a:p>
            <a:pPr algn="l" indent="0" marL="0">
              <a:lnSpc>
                <a:spcPct val="126000"/>
              </a:lnSpc>
              <a:buNone/>
            </a:pPr>
            <a:r>
              <a:rPr lang="en-US" sz="1400" dirty="0">
                <a:solidFill>
                  <a:srgbClr val="161613"/>
                </a:solidFill>
                <a:latin typeface="Inter" pitchFamily="34" charset="0"/>
                <a:ea typeface="Inter" pitchFamily="34" charset="-122"/>
                <a:cs typeface="Inter" pitchFamily="34" charset="-120"/>
              </a:rPr>
              <a:t>Support diverse learning needs through modular, adaptable content that accommodates different schedules, technical capabilities, and institutional requirements across global contexts.</a:t>
            </a:r>
            <a:endParaRPr lang="en-US" sz="1400" dirty="0"/>
          </a:p>
        </p:txBody>
      </p:sp>
      <p:sp>
        <p:nvSpPr>
          <p:cNvPr id="14" name="Text 12"/>
          <p:cNvSpPr/>
          <p:nvPr/>
        </p:nvSpPr>
        <p:spPr>
          <a:xfrm>
            <a:off x="8179687" y="4109145"/>
            <a:ext cx="3108843" cy="945455"/>
          </a:xfrm>
          <a:prstGeom prst="rect">
            <a:avLst/>
          </a:prstGeom>
          <a:noFill/>
          <a:ln/>
        </p:spPr>
        <p:txBody>
          <a:bodyPr wrap="square" lIns="0" tIns="0" rIns="0" bIns="0" rtlCol="0" anchor="t">
            <a:normAutofit/>
          </a:bodyPr>
          <a:lstStyle/>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Self-paced progression</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Offline accessibility</a:t>
            </a:r>
            <a:endParaRPr lang="en-US" sz="1400" dirty="0"/>
          </a:p>
          <a:p>
            <a:pPr algn="l" marL="284480" indent="-284480">
              <a:lnSpc>
                <a:spcPct val="126000"/>
              </a:lnSpc>
              <a:buSzPct val="100000"/>
              <a:buChar char="•"/>
            </a:pPr>
            <a:r>
              <a:rPr lang="en-US" sz="1400" dirty="0">
                <a:solidFill>
                  <a:srgbClr val="161613"/>
                </a:solidFill>
                <a:latin typeface="Inter" pitchFamily="34" charset="0"/>
                <a:ea typeface="Inter" pitchFamily="34" charset="-122"/>
                <a:cs typeface="Inter" pitchFamily="34" charset="-120"/>
              </a:rPr>
              <a:t>Multilingual support</a:t>
            </a:r>
            <a:endParaRPr lang="en-US" sz="1400" dirty="0"/>
          </a:p>
        </p:txBody>
      </p:sp>
      <p:sp>
        <p:nvSpPr>
          <p:cNvPr id="15" name="Text 13"/>
          <p:cNvSpPr/>
          <p:nvPr/>
        </p:nvSpPr>
        <p:spPr>
          <a:xfrm>
            <a:off x="720012" y="5421312"/>
            <a:ext cx="10751670" cy="554236"/>
          </a:xfrm>
          <a:prstGeom prst="rect">
            <a:avLst/>
          </a:prstGeom>
          <a:noFill/>
          <a:ln/>
        </p:spPr>
        <p:txBody>
          <a:bodyPr wrap="square" lIns="0" tIns="0" rIns="0" bIns="0" rtlCol="0" anchor="t">
            <a:normAutofit/>
          </a:bodyPr>
          <a:lstStyle/>
          <a:p>
            <a:pPr algn="l" indent="0" marL="0">
              <a:lnSpc>
                <a:spcPct val="126000"/>
              </a:lnSpc>
              <a:buNone/>
            </a:pPr>
            <a:r>
              <a:rPr lang="en-US" sz="1400" dirty="0">
                <a:solidFill>
                  <a:srgbClr val="161613"/>
                </a:solidFill>
                <a:latin typeface="Inter" pitchFamily="34" charset="0"/>
                <a:ea typeface="Inter" pitchFamily="34" charset="-122"/>
                <a:cs typeface="Inter" pitchFamily="34" charset="-120"/>
              </a:rPr>
              <a:t>These objectives work synergistically to create a comprehensive learning experience that transforms how TVET educators approach technology integration, ensuring they remain relevant and effective in an increasingly digital world.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0012" y="581918"/>
            <a:ext cx="10751670" cy="532408"/>
          </a:xfrm>
          <a:prstGeom prst="rect">
            <a:avLst/>
          </a:prstGeom>
          <a:noFill/>
          <a:ln/>
        </p:spPr>
        <p:txBody>
          <a:bodyPr wrap="none" lIns="0" tIns="0" rIns="0" bIns="0" rtlCol="0" anchor="t"/>
          <a:lstStyle/>
          <a:p>
            <a:pPr algn="l" indent="0" marL="0">
              <a:lnSpc>
                <a:spcPct val="104000"/>
              </a:lnSpc>
              <a:buNone/>
            </a:pPr>
            <a:r>
              <a:rPr lang="en-US" sz="3350" dirty="0">
                <a:solidFill>
                  <a:srgbClr val="161613"/>
                </a:solidFill>
                <a:latin typeface="DM Sans Medium" pitchFamily="34" charset="0"/>
                <a:ea typeface="DM Sans Medium" pitchFamily="34" charset="-122"/>
                <a:cs typeface="DM Sans Medium" pitchFamily="34" charset="-120"/>
              </a:rPr>
              <a:t>Target Audience &amp; Professional Communities</a:t>
            </a:r>
            <a:endParaRPr lang="en-US" sz="3350" dirty="0"/>
          </a:p>
        </p:txBody>
      </p:sp>
      <p:sp>
        <p:nvSpPr>
          <p:cNvPr id="3" name="Text 1"/>
          <p:cNvSpPr/>
          <p:nvPr/>
        </p:nvSpPr>
        <p:spPr>
          <a:xfrm>
            <a:off x="720012" y="1396504"/>
            <a:ext cx="10751670" cy="747415"/>
          </a:xfrm>
          <a:prstGeom prst="rect">
            <a:avLst/>
          </a:prstGeom>
          <a:noFill/>
          <a:ln/>
        </p:spPr>
        <p:txBody>
          <a:bodyPr wrap="square" lIns="0" tIns="0" rIns="0" bIns="0" rtlCol="0" anchor="t">
            <a:normAutofit/>
          </a:bodyPr>
          <a:lstStyle/>
          <a:p>
            <a:pPr algn="l" indent="0" marL="0">
              <a:lnSpc>
                <a:spcPct val="122000"/>
              </a:lnSpc>
              <a:buNone/>
            </a:pPr>
            <a:r>
              <a:rPr lang="en-US" sz="1300" dirty="0">
                <a:solidFill>
                  <a:srgbClr val="161613"/>
                </a:solidFill>
                <a:latin typeface="Inter" pitchFamily="34" charset="0"/>
                <a:ea typeface="Inter" pitchFamily="34" charset="-122"/>
                <a:cs typeface="Inter" pitchFamily="34" charset="-120"/>
              </a:rPr>
              <a:t>The ASSET programme addresses the professional development needs of a diverse and influential community within the vocational education sector. Our carefully designed content serves multiple stakeholder groups, each bringing unique perspectives and requirements to the learning experience.</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0012" y="2302570"/>
            <a:ext cx="511063" cy="511076"/>
          </a:xfrm>
          <a:prstGeom prst="rect">
            <a:avLst/>
          </a:prstGeom>
        </p:spPr>
      </p:pic>
      <p:sp>
        <p:nvSpPr>
          <p:cNvPr id="5" name="Text 2"/>
          <p:cNvSpPr/>
          <p:nvPr/>
        </p:nvSpPr>
        <p:spPr>
          <a:xfrm>
            <a:off x="1407383" y="2302570"/>
            <a:ext cx="4600261" cy="266204"/>
          </a:xfrm>
          <a:prstGeom prst="rect">
            <a:avLst/>
          </a:prstGeom>
          <a:noFill/>
          <a:ln/>
        </p:spPr>
        <p:txBody>
          <a:bodyPr wrap="none" lIns="0" tIns="0" rIns="0" bIns="0" rtlCol="0" anchor="t"/>
          <a:lstStyle/>
          <a:p>
            <a:pPr algn="l"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TVET Teachers &amp; Trainers</a:t>
            </a:r>
            <a:endParaRPr lang="en-US" sz="1650" dirty="0"/>
          </a:p>
        </p:txBody>
      </p:sp>
      <p:sp>
        <p:nvSpPr>
          <p:cNvPr id="6" name="Text 3"/>
          <p:cNvSpPr/>
          <p:nvPr/>
        </p:nvSpPr>
        <p:spPr>
          <a:xfrm>
            <a:off x="1407383" y="2653407"/>
            <a:ext cx="4600261" cy="1743968"/>
          </a:xfrm>
          <a:prstGeom prst="rect">
            <a:avLst/>
          </a:prstGeom>
          <a:noFill/>
          <a:ln/>
        </p:spPr>
        <p:txBody>
          <a:bodyPr wrap="square" lIns="0" tIns="0" rIns="0" bIns="0" rtlCol="0" anchor="t">
            <a:normAutofit/>
          </a:bodyPr>
          <a:lstStyle/>
          <a:p>
            <a:pPr algn="l" indent="0" marL="0">
              <a:lnSpc>
                <a:spcPct val="122000"/>
              </a:lnSpc>
              <a:buNone/>
            </a:pPr>
            <a:r>
              <a:rPr lang="en-US" sz="1300" dirty="0">
                <a:solidFill>
                  <a:srgbClr val="161613"/>
                </a:solidFill>
                <a:latin typeface="Inter" pitchFamily="34" charset="0"/>
                <a:ea typeface="Inter" pitchFamily="34" charset="-122"/>
                <a:cs typeface="Inter" pitchFamily="34" charset="-120"/>
              </a:rPr>
              <a:t>Front-line educators delivering vocational programmes across various trades and industries. These professionals directly impact learner outcomes and serve as the primary bridge between traditional craft knowledge and emerging technological capabilities. Their engagement ensures practical, classroom-tested applications of AI tools.</a:t>
            </a:r>
            <a:endParaRPr lang="en-US" sz="1300" dirty="0"/>
          </a:p>
        </p:txBody>
      </p:sp>
      <p:pic>
        <p:nvPicPr>
          <p:cNvPr id="7" name="Image 1" descr="preencoded.png">    </p:cNvPr>
          <p:cNvPicPr>
            <a:picLocks noChangeAspect="1"/>
          </p:cNvPicPr>
          <p:nvPr/>
        </p:nvPicPr>
        <p:blipFill>
          <a:blip r:embed="rId3"/>
          <a:stretch>
            <a:fillRect/>
          </a:stretch>
        </p:blipFill>
        <p:spPr>
          <a:xfrm>
            <a:off x="6183952" y="2302570"/>
            <a:ext cx="511063" cy="511076"/>
          </a:xfrm>
          <a:prstGeom prst="rect">
            <a:avLst/>
          </a:prstGeom>
        </p:spPr>
      </p:pic>
      <p:sp>
        <p:nvSpPr>
          <p:cNvPr id="8" name="Text 4"/>
          <p:cNvSpPr/>
          <p:nvPr/>
        </p:nvSpPr>
        <p:spPr>
          <a:xfrm>
            <a:off x="6871322" y="2302570"/>
            <a:ext cx="4600361" cy="266204"/>
          </a:xfrm>
          <a:prstGeom prst="rect">
            <a:avLst/>
          </a:prstGeom>
          <a:noFill/>
          <a:ln/>
        </p:spPr>
        <p:txBody>
          <a:bodyPr wrap="none" lIns="0" tIns="0" rIns="0" bIns="0" rtlCol="0" anchor="t"/>
          <a:lstStyle/>
          <a:p>
            <a:pPr algn="l"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Curriculum Designers</a:t>
            </a:r>
            <a:endParaRPr lang="en-US" sz="1650" dirty="0"/>
          </a:p>
        </p:txBody>
      </p:sp>
      <p:sp>
        <p:nvSpPr>
          <p:cNvPr id="9" name="Text 5"/>
          <p:cNvSpPr/>
          <p:nvPr/>
        </p:nvSpPr>
        <p:spPr>
          <a:xfrm>
            <a:off x="6871322" y="2653407"/>
            <a:ext cx="4600361" cy="1494830"/>
          </a:xfrm>
          <a:prstGeom prst="rect">
            <a:avLst/>
          </a:prstGeom>
          <a:noFill/>
          <a:ln/>
        </p:spPr>
        <p:txBody>
          <a:bodyPr wrap="square" lIns="0" tIns="0" rIns="0" bIns="0" rtlCol="0" anchor="t">
            <a:normAutofit/>
          </a:bodyPr>
          <a:lstStyle/>
          <a:p>
            <a:pPr algn="l" indent="0" marL="0">
              <a:lnSpc>
                <a:spcPct val="122000"/>
              </a:lnSpc>
              <a:buNone/>
            </a:pPr>
            <a:r>
              <a:rPr lang="en-US" sz="1300" dirty="0">
                <a:solidFill>
                  <a:srgbClr val="161613"/>
                </a:solidFill>
                <a:latin typeface="Inter" pitchFamily="34" charset="0"/>
                <a:ea typeface="Inter" pitchFamily="34" charset="-122"/>
                <a:cs typeface="Inter" pitchFamily="34" charset="-120"/>
              </a:rPr>
              <a:t>Educational architects responsible for structuring learning pathways and integrating new technologies into existing programmes. Their participation ensures systematic integration of AI literacy across vocational qualifications and maintains alignment with industry standards and employment requirements.</a:t>
            </a:r>
            <a:endParaRPr lang="en-US" sz="13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0012" y="4679553"/>
            <a:ext cx="511063" cy="511076"/>
          </a:xfrm>
          <a:prstGeom prst="rect">
            <a:avLst/>
          </a:prstGeom>
        </p:spPr>
      </p:pic>
      <p:sp>
        <p:nvSpPr>
          <p:cNvPr id="11" name="Text 6"/>
          <p:cNvSpPr/>
          <p:nvPr/>
        </p:nvSpPr>
        <p:spPr>
          <a:xfrm>
            <a:off x="1407383" y="4679553"/>
            <a:ext cx="4600261" cy="266204"/>
          </a:xfrm>
          <a:prstGeom prst="rect">
            <a:avLst/>
          </a:prstGeom>
          <a:noFill/>
          <a:ln/>
        </p:spPr>
        <p:txBody>
          <a:bodyPr wrap="none" lIns="0" tIns="0" rIns="0" bIns="0" rtlCol="0" anchor="t"/>
          <a:lstStyle/>
          <a:p>
            <a:pPr algn="l"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Instructional Technologists</a:t>
            </a:r>
            <a:endParaRPr lang="en-US" sz="1650" dirty="0"/>
          </a:p>
        </p:txBody>
      </p:sp>
      <p:sp>
        <p:nvSpPr>
          <p:cNvPr id="12" name="Text 7"/>
          <p:cNvSpPr/>
          <p:nvPr/>
        </p:nvSpPr>
        <p:spPr>
          <a:xfrm>
            <a:off x="1407383" y="5030391"/>
            <a:ext cx="4600261" cy="1245691"/>
          </a:xfrm>
          <a:prstGeom prst="rect">
            <a:avLst/>
          </a:prstGeom>
          <a:noFill/>
          <a:ln/>
        </p:spPr>
        <p:txBody>
          <a:bodyPr wrap="square" lIns="0" tIns="0" rIns="0" bIns="0" rtlCol="0" anchor="t">
            <a:normAutofit/>
          </a:bodyPr>
          <a:lstStyle/>
          <a:p>
            <a:pPr algn="l" indent="0" marL="0">
              <a:lnSpc>
                <a:spcPct val="122000"/>
              </a:lnSpc>
              <a:buNone/>
            </a:pPr>
            <a:r>
              <a:rPr lang="en-US" sz="1300" dirty="0">
                <a:solidFill>
                  <a:srgbClr val="161613"/>
                </a:solidFill>
                <a:latin typeface="Inter" pitchFamily="34" charset="0"/>
                <a:ea typeface="Inter" pitchFamily="34" charset="-122"/>
                <a:cs typeface="Inter" pitchFamily="34" charset="-120"/>
              </a:rPr>
              <a:t>Technical specialists who facilitate technology adoption and provide ongoing support for digital learning initiatives. Their expertise ensures effective implementation strategies and sustainable technology integration within institutional frameworks.</a:t>
            </a:r>
            <a:endParaRPr lang="en-US" sz="13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83952" y="4679553"/>
            <a:ext cx="511063" cy="511076"/>
          </a:xfrm>
          <a:prstGeom prst="rect">
            <a:avLst/>
          </a:prstGeom>
        </p:spPr>
      </p:pic>
      <p:sp>
        <p:nvSpPr>
          <p:cNvPr id="14" name="Text 8"/>
          <p:cNvSpPr/>
          <p:nvPr/>
        </p:nvSpPr>
        <p:spPr>
          <a:xfrm>
            <a:off x="6871322" y="4679553"/>
            <a:ext cx="4600361" cy="266204"/>
          </a:xfrm>
          <a:prstGeom prst="rect">
            <a:avLst/>
          </a:prstGeom>
          <a:noFill/>
          <a:ln/>
        </p:spPr>
        <p:txBody>
          <a:bodyPr wrap="none" lIns="0" tIns="0" rIns="0" bIns="0" rtlCol="0" anchor="t"/>
          <a:lstStyle/>
          <a:p>
            <a:pPr algn="l" indent="0" marL="0">
              <a:lnSpc>
                <a:spcPct val="104000"/>
              </a:lnSpc>
              <a:buNone/>
            </a:pPr>
            <a:r>
              <a:rPr lang="en-US" sz="1650" dirty="0">
                <a:solidFill>
                  <a:srgbClr val="161613"/>
                </a:solidFill>
                <a:latin typeface="DM Sans Medium" pitchFamily="34" charset="0"/>
                <a:ea typeface="DM Sans Medium" pitchFamily="34" charset="-122"/>
                <a:cs typeface="DM Sans Medium" pitchFamily="34" charset="-120"/>
              </a:rPr>
              <a:t>Education Policymakers</a:t>
            </a:r>
            <a:endParaRPr lang="en-US" sz="1650" dirty="0"/>
          </a:p>
        </p:txBody>
      </p:sp>
      <p:sp>
        <p:nvSpPr>
          <p:cNvPr id="15" name="Text 9"/>
          <p:cNvSpPr/>
          <p:nvPr/>
        </p:nvSpPr>
        <p:spPr>
          <a:xfrm>
            <a:off x="6871322" y="5030391"/>
            <a:ext cx="4600361" cy="1245691"/>
          </a:xfrm>
          <a:prstGeom prst="rect">
            <a:avLst/>
          </a:prstGeom>
          <a:noFill/>
          <a:ln/>
        </p:spPr>
        <p:txBody>
          <a:bodyPr wrap="square" lIns="0" tIns="0" rIns="0" bIns="0" rtlCol="0" anchor="t">
            <a:normAutofit/>
          </a:bodyPr>
          <a:lstStyle/>
          <a:p>
            <a:pPr algn="l" indent="0" marL="0">
              <a:lnSpc>
                <a:spcPct val="122000"/>
              </a:lnSpc>
              <a:buNone/>
            </a:pPr>
            <a:r>
              <a:rPr lang="en-US" sz="1300" dirty="0">
                <a:solidFill>
                  <a:srgbClr val="161613"/>
                </a:solidFill>
                <a:latin typeface="Inter" pitchFamily="34" charset="0"/>
                <a:ea typeface="Inter" pitchFamily="34" charset="-122"/>
                <a:cs typeface="Inter" pitchFamily="34" charset="-120"/>
              </a:rPr>
              <a:t>Decision-makers who shape educational policy and resource allocation at institutional, regional, and national levels. Their involvement ensures strategic alignment and sustainable funding for AI integration initiatives within broader educational development frameworks.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0012" y="590947"/>
            <a:ext cx="10751670" cy="512266"/>
          </a:xfrm>
          <a:prstGeom prst="rect">
            <a:avLst/>
          </a:prstGeom>
          <a:noFill/>
          <a:ln/>
        </p:spPr>
        <p:txBody>
          <a:bodyPr wrap="none" lIns="0" tIns="0" rIns="0" bIns="0" rtlCol="0" anchor="t"/>
          <a:lstStyle/>
          <a:p>
            <a:pPr algn="l" indent="0" marL="0">
              <a:lnSpc>
                <a:spcPct val="104000"/>
              </a:lnSpc>
              <a:buNone/>
            </a:pPr>
            <a:r>
              <a:rPr lang="en-US" sz="3200" dirty="0">
                <a:solidFill>
                  <a:srgbClr val="161613"/>
                </a:solidFill>
                <a:latin typeface="DM Sans Medium" pitchFamily="34" charset="0"/>
                <a:ea typeface="DM Sans Medium" pitchFamily="34" charset="-122"/>
                <a:cs typeface="DM Sans Medium" pitchFamily="34" charset="-120"/>
              </a:rPr>
              <a:t>Module 1: Orientation - Setting the Foundation</a:t>
            </a:r>
            <a:endParaRPr lang="en-US" sz="3200" dirty="0"/>
          </a:p>
        </p:txBody>
      </p:sp>
      <p:sp>
        <p:nvSpPr>
          <p:cNvPr id="3" name="Text 1"/>
          <p:cNvSpPr/>
          <p:nvPr/>
        </p:nvSpPr>
        <p:spPr>
          <a:xfrm>
            <a:off x="720012" y="1416745"/>
            <a:ext cx="6848601" cy="3532783"/>
          </a:xfrm>
          <a:prstGeom prst="rect">
            <a:avLst/>
          </a:prstGeom>
          <a:noFill/>
          <a:ln/>
        </p:spPr>
        <p:txBody>
          <a:bodyPr wrap="square" lIns="0" tIns="0" rIns="0" bIns="0" rtlCol="0" anchor="t">
            <a:normAutofit/>
          </a:bodyPr>
          <a:lstStyle/>
          <a:p>
            <a:pPr algn="l" indent="0" marL="0">
              <a:lnSpc>
                <a:spcPct val="120000"/>
              </a:lnSpc>
              <a:spcAft>
                <a:spcPts val="900"/>
              </a:spcAft>
              <a:buNone/>
            </a:pPr>
            <a:r>
              <a:rPr lang="en-US" sz="1250" dirty="0">
                <a:solidFill>
                  <a:srgbClr val="161613"/>
                </a:solidFill>
                <a:latin typeface="Inter" pitchFamily="34" charset="0"/>
                <a:ea typeface="Inter" pitchFamily="34" charset="-122"/>
                <a:cs typeface="Inter" pitchFamily="34" charset="-120"/>
              </a:rPr>
              <a:t>The </a:t>
            </a:r>
            <a:pPr algn="l" indent="0" marL="0">
              <a:lnSpc>
                <a:spcPct val="120000"/>
              </a:lnSpc>
              <a:spcAft>
                <a:spcPts val="900"/>
              </a:spcAft>
              <a:buNone/>
            </a:pPr>
            <a:r>
              <a:rPr lang="en-US" sz="1250" dirty="0">
                <a:solidFill>
                  <a:srgbClr val="28282F"/>
                </a:solidFill>
                <a:latin typeface="Inter" pitchFamily="34" charset="0"/>
                <a:ea typeface="Inter" pitchFamily="34" charset="-122"/>
                <a:cs typeface="Inter" pitchFamily="34" charset="-120"/>
              </a:rPr>
              <a:t>Orientation module</a:t>
            </a:r>
            <a:pPr algn="l" indent="0" marL="0">
              <a:lnSpc>
                <a:spcPct val="120000"/>
              </a:lnSpc>
              <a:spcAft>
                <a:spcPts val="900"/>
              </a:spcAft>
              <a:buNone/>
            </a:pPr>
            <a:r>
              <a:rPr lang="en-US" sz="1250" dirty="0">
                <a:solidFill>
                  <a:srgbClr val="161613"/>
                </a:solidFill>
                <a:latin typeface="Inter" pitchFamily="34" charset="0"/>
                <a:ea typeface="Inter" pitchFamily="34" charset="-122"/>
                <a:cs typeface="Inter" pitchFamily="34" charset="-120"/>
              </a:rPr>
              <a:t> serves as your comprehensive introduction to artificial intelligence within the vocational education and training context. This foundational unit establishes essential understanding and creates shared vocabulary amongst participants from diverse professional backgrounds.</a:t>
            </a:r>
            <a:endParaRPr lang="en-US" sz="1250" dirty="0"/>
          </a:p>
          <a:p>
            <a:pPr algn="l" indent="0" marL="0">
              <a:lnSpc>
                <a:spcPct val="120000"/>
              </a:lnSpc>
              <a:spcAft>
                <a:spcPts val="900"/>
              </a:spcAft>
              <a:buNone/>
            </a:pPr>
            <a:r>
              <a:rPr lang="en-US" sz="1250" dirty="0">
                <a:solidFill>
                  <a:srgbClr val="161613"/>
                </a:solidFill>
                <a:latin typeface="Inter" pitchFamily="34" charset="0"/>
                <a:ea typeface="Inter" pitchFamily="34" charset="-122"/>
                <a:cs typeface="Inter" pitchFamily="34" charset="-120"/>
              </a:rPr>
              <a:t>Participants explore the fundamental rationale behind AI integration in TVET settings, examining both opportunities and challenges. The module addresses common misconceptions whilst building confidence in approaching AI technologies. Through structured activities and reflective exercises, learners develop a clear understanding of how AI can enhance rather than replace traditional teaching methodologies.</a:t>
            </a:r>
            <a:endParaRPr lang="en-US" sz="1250" dirty="0"/>
          </a:p>
          <a:p>
            <a:pPr algn="l" indent="0" marL="0">
              <a:lnSpc>
                <a:spcPct val="120000"/>
              </a:lnSpc>
              <a:buNone/>
            </a:pPr>
            <a:r>
              <a:rPr lang="en-US" sz="1250" dirty="0">
                <a:solidFill>
                  <a:srgbClr val="161613"/>
                </a:solidFill>
                <a:latin typeface="Inter" pitchFamily="34" charset="0"/>
                <a:ea typeface="Inter" pitchFamily="34" charset="-122"/>
                <a:cs typeface="Inter" pitchFamily="34" charset="-120"/>
              </a:rPr>
              <a:t>Key learning outcomes include understanding project goals and framework, mastering basic AI definitions and terminology, recognising AI's relevance to vocational training contexts, and developing realistic expectations for technology integration. The module concludes with practical orientation exercises that prepare participants for subsequent technical modules.</a:t>
            </a:r>
            <a:endParaRPr lang="en-US" sz="1250" dirty="0"/>
          </a:p>
        </p:txBody>
      </p:sp>
      <p:pic>
        <p:nvPicPr>
          <p:cNvPr id="4" name="Image 0" descr="preencoded.png">
            <a:hlinkClick r:id="rId2" tooltip=""/>
          </p:cNvPr>
          <p:cNvPicPr>
            <a:picLocks noChangeAspect="1"/>
          </p:cNvPicPr>
          <p:nvPr/>
        </p:nvPicPr>
        <p:blipFill>
          <a:blip r:embed="rId1"/>
          <a:stretch>
            <a:fillRect/>
          </a:stretch>
        </p:blipFill>
        <p:spPr>
          <a:xfrm>
            <a:off x="720012" y="5096470"/>
            <a:ext cx="1793036" cy="450850"/>
          </a:xfrm>
          <a:prstGeom prst="rect">
            <a:avLst/>
          </a:prstGeom>
        </p:spPr>
      </p:pic>
      <p:pic>
        <p:nvPicPr>
          <p:cNvPr id="5" name="Image 1" descr="preencoded.png">
            <a:hlinkClick r:id="rId4" tooltip=""/>
          </p:cNvPr>
          <p:cNvPicPr>
            <a:picLocks noChangeAspect="1"/>
          </p:cNvPicPr>
          <p:nvPr/>
        </p:nvPicPr>
        <p:blipFill>
          <a:blip r:embed="rId3"/>
          <a:stretch>
            <a:fillRect/>
          </a:stretch>
        </p:blipFill>
        <p:spPr>
          <a:xfrm>
            <a:off x="2595001" y="5096470"/>
            <a:ext cx="1652546" cy="450850"/>
          </a:xfrm>
          <a:prstGeom prst="rect">
            <a:avLst/>
          </a:prstGeom>
        </p:spPr>
      </p:pic>
      <p:pic>
        <p:nvPicPr>
          <p:cNvPr id="6" name="Image 2" descr="preencoded.png">    </p:cNvPr>
          <p:cNvPicPr>
            <a:picLocks noChangeAspect="1"/>
          </p:cNvPicPr>
          <p:nvPr/>
        </p:nvPicPr>
        <p:blipFill>
          <a:blip r:embed="rId5"/>
          <a:stretch>
            <a:fillRect/>
          </a:stretch>
        </p:blipFill>
        <p:spPr>
          <a:xfrm>
            <a:off x="7974805" y="1446113"/>
            <a:ext cx="3503128" cy="3503216"/>
          </a:xfrm>
          <a:prstGeom prst="rect">
            <a:avLst/>
          </a:prstGeom>
        </p:spPr>
      </p:pic>
      <p:sp>
        <p:nvSpPr>
          <p:cNvPr id="7" name="Shape 2"/>
          <p:cNvSpPr/>
          <p:nvPr/>
        </p:nvSpPr>
        <p:spPr>
          <a:xfrm>
            <a:off x="7974805" y="5096272"/>
            <a:ext cx="3503128" cy="1023739"/>
          </a:xfrm>
          <a:prstGeom prst="roundRect">
            <a:avLst>
              <a:gd name="adj" fmla="val 2402"/>
            </a:avLst>
          </a:prstGeom>
          <a:solidFill>
            <a:srgbClr val="E3E3E8"/>
          </a:solidFill>
          <a:ln/>
        </p:spPr>
      </p:sp>
      <p:pic>
        <p:nvPicPr>
          <p:cNvPr id="8" name="Image 3" descr="preencoded.png">    </p:cNvPr>
          <p:cNvPicPr>
            <a:picLocks noChangeAspect="1"/>
          </p:cNvPicPr>
          <p:nvPr/>
        </p:nvPicPr>
        <p:blipFill>
          <a:blip r:embed="rId6"/>
          <a:stretch>
            <a:fillRect/>
          </a:stretch>
        </p:blipFill>
        <p:spPr>
          <a:xfrm>
            <a:off x="8138710" y="5302151"/>
            <a:ext cx="204882" cy="163909"/>
          </a:xfrm>
          <a:prstGeom prst="rect">
            <a:avLst/>
          </a:prstGeom>
        </p:spPr>
      </p:pic>
      <p:sp>
        <p:nvSpPr>
          <p:cNvPr id="9" name="Text 3"/>
          <p:cNvSpPr/>
          <p:nvPr/>
        </p:nvSpPr>
        <p:spPr>
          <a:xfrm>
            <a:off x="8507497" y="5254823"/>
            <a:ext cx="2806531" cy="706636"/>
          </a:xfrm>
          <a:prstGeom prst="rect">
            <a:avLst/>
          </a:prstGeom>
          <a:noFill/>
          <a:ln/>
        </p:spPr>
        <p:txBody>
          <a:bodyPr wrap="square" lIns="0" tIns="0" rIns="0" bIns="0" rtlCol="0" anchor="t">
            <a:normAutofit/>
          </a:bodyPr>
          <a:lstStyle/>
          <a:p>
            <a:pPr algn="l" indent="0" marL="0">
              <a:lnSpc>
                <a:spcPct val="120000"/>
              </a:lnSpc>
              <a:buNone/>
            </a:pPr>
            <a:r>
              <a:rPr lang="en-US" sz="1250" b="1" dirty="0">
                <a:solidFill>
                  <a:srgbClr val="000000"/>
                </a:solidFill>
                <a:latin typeface="Inter Bold" pitchFamily="34" charset="0"/>
                <a:ea typeface="Inter Bold" pitchFamily="34" charset="-122"/>
                <a:cs typeface="Inter Bold" pitchFamily="34" charset="-120"/>
              </a:rPr>
              <a:t>Duration:</a:t>
            </a:r>
            <a:pPr algn="l" indent="0" marL="0">
              <a:lnSpc>
                <a:spcPct val="120000"/>
              </a:lnSpc>
              <a:buNone/>
            </a:pPr>
            <a:r>
              <a:rPr lang="en-US" sz="1250" dirty="0">
                <a:solidFill>
                  <a:srgbClr val="000000"/>
                </a:solidFill>
                <a:latin typeface="Inter" pitchFamily="34" charset="0"/>
                <a:ea typeface="Inter" pitchFamily="34" charset="-122"/>
                <a:cs typeface="Inter" pitchFamily="34" charset="-120"/>
              </a:rPr>
              <a:t> Approximately 45-60 minutes of self-paced learning with optional extended activities.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0012" y="591542"/>
            <a:ext cx="10751670" cy="482203"/>
          </a:xfrm>
          <a:prstGeom prst="rect">
            <a:avLst/>
          </a:prstGeom>
          <a:noFill/>
          <a:ln/>
        </p:spPr>
        <p:txBody>
          <a:bodyPr wrap="none" lIns="0" tIns="0" rIns="0" bIns="0" rtlCol="0" anchor="t"/>
          <a:lstStyle/>
          <a:p>
            <a:pPr algn="l" indent="0" marL="0">
              <a:lnSpc>
                <a:spcPct val="104000"/>
              </a:lnSpc>
              <a:buNone/>
            </a:pPr>
            <a:r>
              <a:rPr lang="en-US" sz="3000" dirty="0">
                <a:solidFill>
                  <a:srgbClr val="161613"/>
                </a:solidFill>
                <a:latin typeface="DM Sans Medium" pitchFamily="34" charset="0"/>
                <a:ea typeface="DM Sans Medium" pitchFamily="34" charset="-122"/>
                <a:cs typeface="DM Sans Medium" pitchFamily="34" charset="-120"/>
              </a:rPr>
              <a:t>Module 2: AI Basics - Technical Foundations</a:t>
            </a:r>
            <a:endParaRPr lang="en-US" sz="3000" dirty="0"/>
          </a:p>
        </p:txBody>
      </p:sp>
      <p:sp>
        <p:nvSpPr>
          <p:cNvPr id="3" name="Text 1"/>
          <p:cNvSpPr/>
          <p:nvPr/>
        </p:nvSpPr>
        <p:spPr>
          <a:xfrm>
            <a:off x="720012" y="1305123"/>
            <a:ext cx="10751670" cy="431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The </a:t>
            </a:r>
            <a:pPr algn="l" indent="0" marL="0">
              <a:lnSpc>
                <a:spcPct val="117000"/>
              </a:lnSpc>
              <a:buNone/>
            </a:pPr>
            <a:r>
              <a:rPr lang="en-US" sz="1200" dirty="0">
                <a:solidFill>
                  <a:srgbClr val="28282F"/>
                </a:solidFill>
                <a:latin typeface="Inter" pitchFamily="34" charset="0"/>
                <a:ea typeface="Inter" pitchFamily="34" charset="-122"/>
                <a:cs typeface="Inter" pitchFamily="34" charset="-120"/>
              </a:rPr>
              <a:t>AI Basics module</a:t>
            </a:r>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 provides essential technical knowledge without overwhelming non-technical participants. This carefully structured unit demystifies artificial intelligence concepts through practical examples and vocational education applications.</a:t>
            </a:r>
            <a:endParaRPr lang="en-US" sz="1200" dirty="0"/>
          </a:p>
        </p:txBody>
      </p:sp>
      <p:sp>
        <p:nvSpPr>
          <p:cNvPr id="4" name="Text 2"/>
          <p:cNvSpPr/>
          <p:nvPr/>
        </p:nvSpPr>
        <p:spPr>
          <a:xfrm>
            <a:off x="720012" y="1867297"/>
            <a:ext cx="308563" cy="192881"/>
          </a:xfrm>
          <a:prstGeom prst="rect">
            <a:avLst/>
          </a:prstGeom>
          <a:noFill/>
          <a:ln/>
        </p:spPr>
        <p:txBody>
          <a:bodyPr wrap="none" lIns="0" tIns="0" rIns="0" bIns="0" rtlCol="0" anchor="ctr"/>
          <a:lstStyle/>
          <a:p>
            <a:pPr algn="l" indent="0" marL="0">
              <a:lnSpc>
                <a:spcPct val="100000"/>
              </a:lnSpc>
              <a:buNone/>
            </a:pPr>
            <a:r>
              <a:rPr lang="en-US" sz="1200" dirty="0">
                <a:solidFill>
                  <a:srgbClr val="161613"/>
                </a:solidFill>
                <a:latin typeface="DM Sans Light" pitchFamily="34" charset="0"/>
                <a:ea typeface="DM Sans Light" pitchFamily="34" charset="-122"/>
                <a:cs typeface="DM Sans Light" pitchFamily="34" charset="-120"/>
              </a:rPr>
              <a:t>01</a:t>
            </a:r>
            <a:endParaRPr lang="en-US" sz="1200" dirty="0"/>
          </a:p>
        </p:txBody>
      </p:sp>
      <p:sp>
        <p:nvSpPr>
          <p:cNvPr id="5" name="Shape 3"/>
          <p:cNvSpPr/>
          <p:nvPr/>
        </p:nvSpPr>
        <p:spPr>
          <a:xfrm>
            <a:off x="720012" y="2110482"/>
            <a:ext cx="5317992" cy="19050"/>
          </a:xfrm>
          <a:prstGeom prst="rect">
            <a:avLst/>
          </a:prstGeom>
          <a:solidFill>
            <a:srgbClr val="28282F"/>
          </a:solidFill>
          <a:ln/>
        </p:spPr>
      </p:sp>
      <p:sp>
        <p:nvSpPr>
          <p:cNvPr id="6" name="Text 4"/>
          <p:cNvSpPr/>
          <p:nvPr/>
        </p:nvSpPr>
        <p:spPr>
          <a:xfrm>
            <a:off x="720012" y="2225675"/>
            <a:ext cx="531799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Machine Learning Fundamentals</a:t>
            </a:r>
            <a:endParaRPr lang="en-US" sz="1500" dirty="0"/>
          </a:p>
        </p:txBody>
      </p:sp>
      <p:sp>
        <p:nvSpPr>
          <p:cNvPr id="7" name="Text 5"/>
          <p:cNvSpPr/>
          <p:nvPr/>
        </p:nvSpPr>
        <p:spPr>
          <a:xfrm>
            <a:off x="720012" y="2536130"/>
            <a:ext cx="5317992" cy="647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Explore how machines learn from data, with specific examples relevant to TVET contexts such as predictive maintenance in automotive training or pattern recognition in manufacturing processes.</a:t>
            </a:r>
            <a:endParaRPr lang="en-US" sz="1200" dirty="0"/>
          </a:p>
        </p:txBody>
      </p:sp>
      <p:sp>
        <p:nvSpPr>
          <p:cNvPr id="8" name="Text 6"/>
          <p:cNvSpPr/>
          <p:nvPr/>
        </p:nvSpPr>
        <p:spPr>
          <a:xfrm>
            <a:off x="6153691" y="1867297"/>
            <a:ext cx="308563" cy="192881"/>
          </a:xfrm>
          <a:prstGeom prst="rect">
            <a:avLst/>
          </a:prstGeom>
          <a:noFill/>
          <a:ln/>
        </p:spPr>
        <p:txBody>
          <a:bodyPr wrap="none" lIns="0" tIns="0" rIns="0" bIns="0" rtlCol="0" anchor="ctr"/>
          <a:lstStyle/>
          <a:p>
            <a:pPr algn="l" indent="0" marL="0">
              <a:lnSpc>
                <a:spcPct val="100000"/>
              </a:lnSpc>
              <a:buNone/>
            </a:pPr>
            <a:r>
              <a:rPr lang="en-US" sz="1200" dirty="0">
                <a:solidFill>
                  <a:srgbClr val="161613"/>
                </a:solidFill>
                <a:latin typeface="DM Sans Light" pitchFamily="34" charset="0"/>
                <a:ea typeface="DM Sans Light" pitchFamily="34" charset="-122"/>
                <a:cs typeface="DM Sans Light" pitchFamily="34" charset="-120"/>
              </a:rPr>
              <a:t>02</a:t>
            </a:r>
            <a:endParaRPr lang="en-US" sz="1200" dirty="0"/>
          </a:p>
        </p:txBody>
      </p:sp>
      <p:sp>
        <p:nvSpPr>
          <p:cNvPr id="9" name="Shape 7"/>
          <p:cNvSpPr/>
          <p:nvPr/>
        </p:nvSpPr>
        <p:spPr>
          <a:xfrm>
            <a:off x="6153691" y="2110482"/>
            <a:ext cx="5317992" cy="19050"/>
          </a:xfrm>
          <a:prstGeom prst="rect">
            <a:avLst/>
          </a:prstGeom>
          <a:solidFill>
            <a:srgbClr val="28282F"/>
          </a:solidFill>
          <a:ln/>
        </p:spPr>
      </p:sp>
      <p:sp>
        <p:nvSpPr>
          <p:cNvPr id="10" name="Text 8"/>
          <p:cNvSpPr/>
          <p:nvPr/>
        </p:nvSpPr>
        <p:spPr>
          <a:xfrm>
            <a:off x="6153691" y="2225675"/>
            <a:ext cx="531799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Data Understanding</a:t>
            </a:r>
            <a:endParaRPr lang="en-US" sz="1500" dirty="0"/>
          </a:p>
        </p:txBody>
      </p:sp>
      <p:sp>
        <p:nvSpPr>
          <p:cNvPr id="11" name="Text 9"/>
          <p:cNvSpPr/>
          <p:nvPr/>
        </p:nvSpPr>
        <p:spPr>
          <a:xfrm>
            <a:off x="6153691" y="2536130"/>
            <a:ext cx="5317992" cy="647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Examine the role of data in AI systems, including data types commonly found in vocational settings, quality considerations, and privacy implications for educational environments.</a:t>
            </a:r>
            <a:endParaRPr lang="en-US" sz="1200" dirty="0"/>
          </a:p>
        </p:txBody>
      </p:sp>
      <p:sp>
        <p:nvSpPr>
          <p:cNvPr id="12" name="Text 10"/>
          <p:cNvSpPr/>
          <p:nvPr/>
        </p:nvSpPr>
        <p:spPr>
          <a:xfrm>
            <a:off x="720012" y="3415506"/>
            <a:ext cx="308563" cy="192881"/>
          </a:xfrm>
          <a:prstGeom prst="rect">
            <a:avLst/>
          </a:prstGeom>
          <a:noFill/>
          <a:ln/>
        </p:spPr>
        <p:txBody>
          <a:bodyPr wrap="none" lIns="0" tIns="0" rIns="0" bIns="0" rtlCol="0" anchor="ctr"/>
          <a:lstStyle/>
          <a:p>
            <a:pPr algn="l" indent="0" marL="0">
              <a:lnSpc>
                <a:spcPct val="100000"/>
              </a:lnSpc>
              <a:buNone/>
            </a:pPr>
            <a:r>
              <a:rPr lang="en-US" sz="1200" dirty="0">
                <a:solidFill>
                  <a:srgbClr val="161613"/>
                </a:solidFill>
                <a:latin typeface="DM Sans Light" pitchFamily="34" charset="0"/>
                <a:ea typeface="DM Sans Light" pitchFamily="34" charset="-122"/>
                <a:cs typeface="DM Sans Light" pitchFamily="34" charset="-120"/>
              </a:rPr>
              <a:t>03</a:t>
            </a:r>
            <a:endParaRPr lang="en-US" sz="1200" dirty="0"/>
          </a:p>
        </p:txBody>
      </p:sp>
      <p:sp>
        <p:nvSpPr>
          <p:cNvPr id="13" name="Shape 11"/>
          <p:cNvSpPr/>
          <p:nvPr/>
        </p:nvSpPr>
        <p:spPr>
          <a:xfrm>
            <a:off x="720012" y="3658691"/>
            <a:ext cx="5317992" cy="19050"/>
          </a:xfrm>
          <a:prstGeom prst="rect">
            <a:avLst/>
          </a:prstGeom>
          <a:solidFill>
            <a:srgbClr val="28282F"/>
          </a:solidFill>
          <a:ln/>
        </p:spPr>
      </p:sp>
      <p:sp>
        <p:nvSpPr>
          <p:cNvPr id="14" name="Text 12"/>
          <p:cNvSpPr/>
          <p:nvPr/>
        </p:nvSpPr>
        <p:spPr>
          <a:xfrm>
            <a:off x="720012" y="3773884"/>
            <a:ext cx="531799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Application Categories</a:t>
            </a:r>
            <a:endParaRPr lang="en-US" sz="1500" dirty="0"/>
          </a:p>
        </p:txBody>
      </p:sp>
      <p:sp>
        <p:nvSpPr>
          <p:cNvPr id="15" name="Text 13"/>
          <p:cNvSpPr/>
          <p:nvPr/>
        </p:nvSpPr>
        <p:spPr>
          <a:xfrm>
            <a:off x="720012" y="4084340"/>
            <a:ext cx="5317992" cy="647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Survey typical AI applications across various vocational sectors, from healthcare diagnostics to construction planning, demonstrating relevance across diverse TVET programmes.</a:t>
            </a:r>
            <a:endParaRPr lang="en-US" sz="1200" dirty="0"/>
          </a:p>
        </p:txBody>
      </p:sp>
      <p:sp>
        <p:nvSpPr>
          <p:cNvPr id="16" name="Text 14"/>
          <p:cNvSpPr/>
          <p:nvPr/>
        </p:nvSpPr>
        <p:spPr>
          <a:xfrm>
            <a:off x="6153691" y="3415506"/>
            <a:ext cx="308563" cy="192881"/>
          </a:xfrm>
          <a:prstGeom prst="rect">
            <a:avLst/>
          </a:prstGeom>
          <a:noFill/>
          <a:ln/>
        </p:spPr>
        <p:txBody>
          <a:bodyPr wrap="none" lIns="0" tIns="0" rIns="0" bIns="0" rtlCol="0" anchor="ctr"/>
          <a:lstStyle/>
          <a:p>
            <a:pPr algn="l" indent="0" marL="0">
              <a:lnSpc>
                <a:spcPct val="100000"/>
              </a:lnSpc>
              <a:buNone/>
            </a:pPr>
            <a:r>
              <a:rPr lang="en-US" sz="1200" dirty="0">
                <a:solidFill>
                  <a:srgbClr val="161613"/>
                </a:solidFill>
                <a:latin typeface="DM Sans Light" pitchFamily="34" charset="0"/>
                <a:ea typeface="DM Sans Light" pitchFamily="34" charset="-122"/>
                <a:cs typeface="DM Sans Light" pitchFamily="34" charset="-120"/>
              </a:rPr>
              <a:t>04</a:t>
            </a:r>
            <a:endParaRPr lang="en-US" sz="1200" dirty="0"/>
          </a:p>
        </p:txBody>
      </p:sp>
      <p:sp>
        <p:nvSpPr>
          <p:cNvPr id="17" name="Shape 15"/>
          <p:cNvSpPr/>
          <p:nvPr/>
        </p:nvSpPr>
        <p:spPr>
          <a:xfrm>
            <a:off x="6153691" y="3658691"/>
            <a:ext cx="5317992" cy="19050"/>
          </a:xfrm>
          <a:prstGeom prst="rect">
            <a:avLst/>
          </a:prstGeom>
          <a:solidFill>
            <a:srgbClr val="28282F"/>
          </a:solidFill>
          <a:ln/>
        </p:spPr>
      </p:sp>
      <p:sp>
        <p:nvSpPr>
          <p:cNvPr id="18" name="Text 16"/>
          <p:cNvSpPr/>
          <p:nvPr/>
        </p:nvSpPr>
        <p:spPr>
          <a:xfrm>
            <a:off x="6153691" y="3773884"/>
            <a:ext cx="531799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Educational Integration</a:t>
            </a:r>
            <a:endParaRPr lang="en-US" sz="1500" dirty="0"/>
          </a:p>
        </p:txBody>
      </p:sp>
      <p:sp>
        <p:nvSpPr>
          <p:cNvPr id="19" name="Text 17"/>
          <p:cNvSpPr/>
          <p:nvPr/>
        </p:nvSpPr>
        <p:spPr>
          <a:xfrm>
            <a:off x="6153691" y="4084340"/>
            <a:ext cx="5317992" cy="647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Connect technical concepts to pedagogical practice, showing how AI understanding enhances teaching effectiveness and learner engagement in vocational contexts.</a:t>
            </a:r>
            <a:endParaRPr lang="en-US" sz="1200" dirty="0"/>
          </a:p>
        </p:txBody>
      </p:sp>
      <p:sp>
        <p:nvSpPr>
          <p:cNvPr id="20" name="Text 18"/>
          <p:cNvSpPr/>
          <p:nvPr/>
        </p:nvSpPr>
        <p:spPr>
          <a:xfrm>
            <a:off x="720012" y="5082282"/>
            <a:ext cx="5187622" cy="1079996"/>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Interactive exercises guide participants through hands-on exploration of AI concepts using familiar vocational examples. The module balances technical accuracy with accessibility, ensuring all participants develop sufficient understanding to engage confidently with subsequent practical modules.</a:t>
            </a:r>
            <a:endParaRPr lang="en-US" sz="1200" dirty="0"/>
          </a:p>
        </p:txBody>
      </p:sp>
      <p:pic>
        <p:nvPicPr>
          <p:cNvPr id="21" name="Image 0" descr="preencoded.png">
            <a:hlinkClick r:id="rId2" tooltip=""/>
          </p:cNvPr>
          <p:cNvPicPr>
            <a:picLocks noChangeAspect="1"/>
          </p:cNvPicPr>
          <p:nvPr/>
        </p:nvPicPr>
        <p:blipFill>
          <a:blip r:embed="rId1"/>
          <a:stretch>
            <a:fillRect/>
          </a:stretch>
        </p:blipFill>
        <p:spPr>
          <a:xfrm>
            <a:off x="6290411" y="5108377"/>
            <a:ext cx="1688562" cy="424259"/>
          </a:xfrm>
          <a:prstGeom prst="rect">
            <a:avLst/>
          </a:prstGeom>
        </p:spPr>
      </p:pic>
      <p:pic>
        <p:nvPicPr>
          <p:cNvPr id="22" name="Image 1" descr="preencoded.png">
            <a:hlinkClick r:id="rId4" tooltip=""/>
          </p:cNvPr>
          <p:cNvPicPr>
            <a:picLocks noChangeAspect="1"/>
          </p:cNvPicPr>
          <p:nvPr/>
        </p:nvPicPr>
        <p:blipFill>
          <a:blip r:embed="rId3"/>
          <a:stretch>
            <a:fillRect/>
          </a:stretch>
        </p:blipFill>
        <p:spPr>
          <a:xfrm>
            <a:off x="8056063" y="5108377"/>
            <a:ext cx="1556306" cy="4242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0012" y="624185"/>
            <a:ext cx="10751670" cy="482203"/>
          </a:xfrm>
          <a:prstGeom prst="rect">
            <a:avLst/>
          </a:prstGeom>
          <a:noFill/>
          <a:ln/>
        </p:spPr>
        <p:txBody>
          <a:bodyPr wrap="none" lIns="0" tIns="0" rIns="0" bIns="0" rtlCol="0" anchor="t"/>
          <a:lstStyle/>
          <a:p>
            <a:pPr algn="l" indent="0" marL="0">
              <a:lnSpc>
                <a:spcPct val="104000"/>
              </a:lnSpc>
              <a:buNone/>
            </a:pPr>
            <a:r>
              <a:rPr lang="en-US" sz="3000" dirty="0">
                <a:solidFill>
                  <a:srgbClr val="161613"/>
                </a:solidFill>
                <a:latin typeface="DM Sans Medium" pitchFamily="34" charset="0"/>
                <a:ea typeface="DM Sans Medium" pitchFamily="34" charset="-122"/>
                <a:cs typeface="DM Sans Medium" pitchFamily="34" charset="-120"/>
              </a:rPr>
              <a:t>Module 3: Tool Presentations - Practical Applications</a:t>
            </a:r>
            <a:endParaRPr lang="en-US" sz="3000" dirty="0"/>
          </a:p>
        </p:txBody>
      </p:sp>
      <p:sp>
        <p:nvSpPr>
          <p:cNvPr id="3" name="Text 1"/>
          <p:cNvSpPr/>
          <p:nvPr/>
        </p:nvSpPr>
        <p:spPr>
          <a:xfrm>
            <a:off x="720012" y="1337766"/>
            <a:ext cx="10751670" cy="431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The </a:t>
            </a:r>
            <a:pPr algn="l" indent="0" marL="0">
              <a:lnSpc>
                <a:spcPct val="117000"/>
              </a:lnSpc>
              <a:buNone/>
            </a:pPr>
            <a:r>
              <a:rPr lang="en-US" sz="1200" dirty="0">
                <a:solidFill>
                  <a:srgbClr val="28282F"/>
                </a:solidFill>
                <a:latin typeface="Inter" pitchFamily="34" charset="0"/>
                <a:ea typeface="Inter" pitchFamily="34" charset="-122"/>
                <a:cs typeface="Inter" pitchFamily="34" charset="-120"/>
              </a:rPr>
              <a:t>Tool Presentations module</a:t>
            </a:r>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 transforms theoretical knowledge into practical capability through hands-on exploration of carefully selected AI tools. This interactive unit provides direct experience with technologies that can immediately enhance TVET teaching and learning environments.</a:t>
            </a:r>
            <a:endParaRPr lang="en-US" sz="1200" dirty="0"/>
          </a:p>
        </p:txBody>
      </p:sp>
      <p:pic>
        <p:nvPicPr>
          <p:cNvPr id="4" name="Image 0" descr="preencoded.png">    </p:cNvPr>
          <p:cNvPicPr>
            <a:picLocks noChangeAspect="1"/>
          </p:cNvPicPr>
          <p:nvPr/>
        </p:nvPicPr>
        <p:blipFill>
          <a:blip r:embed="rId1"/>
          <a:stretch>
            <a:fillRect/>
          </a:stretch>
        </p:blipFill>
        <p:spPr>
          <a:xfrm>
            <a:off x="720012" y="1899940"/>
            <a:ext cx="2022722" cy="1250156"/>
          </a:xfrm>
          <a:prstGeom prst="rect">
            <a:avLst/>
          </a:prstGeom>
        </p:spPr>
      </p:pic>
      <p:sp>
        <p:nvSpPr>
          <p:cNvPr id="5" name="Text 2"/>
          <p:cNvSpPr/>
          <p:nvPr/>
        </p:nvSpPr>
        <p:spPr>
          <a:xfrm>
            <a:off x="720012" y="3294757"/>
            <a:ext cx="348745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Conversational AI Platforms</a:t>
            </a:r>
            <a:endParaRPr lang="en-US" sz="1500" dirty="0"/>
          </a:p>
        </p:txBody>
      </p:sp>
      <p:sp>
        <p:nvSpPr>
          <p:cNvPr id="6" name="Text 3"/>
          <p:cNvSpPr/>
          <p:nvPr/>
        </p:nvSpPr>
        <p:spPr>
          <a:xfrm>
            <a:off x="720012" y="3605213"/>
            <a:ext cx="3487452" cy="1295995"/>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Experience advanced chatbots and virtual assistants designed for educational support. Learn to leverage these tools for student queries, administrative tasks, and personalised learning assistance across various vocational disciplines.</a:t>
            </a:r>
            <a:endParaRPr lang="en-US" sz="1200" dirty="0"/>
          </a:p>
        </p:txBody>
      </p:sp>
      <p:pic>
        <p:nvPicPr>
          <p:cNvPr id="7" name="Image 1" descr="preencoded.png">    </p:cNvPr>
          <p:cNvPicPr>
            <a:picLocks noChangeAspect="1"/>
          </p:cNvPicPr>
          <p:nvPr/>
        </p:nvPicPr>
        <p:blipFill>
          <a:blip r:embed="rId2"/>
          <a:stretch>
            <a:fillRect/>
          </a:stretch>
        </p:blipFill>
        <p:spPr>
          <a:xfrm>
            <a:off x="4352122" y="1899940"/>
            <a:ext cx="2022722" cy="1250156"/>
          </a:xfrm>
          <a:prstGeom prst="rect">
            <a:avLst/>
          </a:prstGeom>
        </p:spPr>
      </p:pic>
      <p:sp>
        <p:nvSpPr>
          <p:cNvPr id="8" name="Text 4"/>
          <p:cNvSpPr/>
          <p:nvPr/>
        </p:nvSpPr>
        <p:spPr>
          <a:xfrm>
            <a:off x="4352122" y="3294757"/>
            <a:ext cx="348745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Content Generation Tools</a:t>
            </a:r>
            <a:endParaRPr lang="en-US" sz="1500" dirty="0"/>
          </a:p>
        </p:txBody>
      </p:sp>
      <p:sp>
        <p:nvSpPr>
          <p:cNvPr id="9" name="Text 5"/>
          <p:cNvSpPr/>
          <p:nvPr/>
        </p:nvSpPr>
        <p:spPr>
          <a:xfrm>
            <a:off x="4352122" y="3605213"/>
            <a:ext cx="3487452" cy="1079996"/>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Explore AI-powered platforms for creating educational resources, including lesson plans, assessment questions, and multimedia content tailored to specific TVET programmes and learning outcomes.</a:t>
            </a:r>
            <a:endParaRPr lang="en-US" sz="1200" dirty="0"/>
          </a:p>
        </p:txBody>
      </p:sp>
      <p:pic>
        <p:nvPicPr>
          <p:cNvPr id="10" name="Image 2" descr="preencoded.png">    </p:cNvPr>
          <p:cNvPicPr>
            <a:picLocks noChangeAspect="1"/>
          </p:cNvPicPr>
          <p:nvPr/>
        </p:nvPicPr>
        <p:blipFill>
          <a:blip r:embed="rId3"/>
          <a:stretch>
            <a:fillRect/>
          </a:stretch>
        </p:blipFill>
        <p:spPr>
          <a:xfrm>
            <a:off x="7984231" y="1899940"/>
            <a:ext cx="2022722" cy="1250156"/>
          </a:xfrm>
          <a:prstGeom prst="rect">
            <a:avLst/>
          </a:prstGeom>
        </p:spPr>
      </p:pic>
      <p:sp>
        <p:nvSpPr>
          <p:cNvPr id="11" name="Text 6"/>
          <p:cNvSpPr/>
          <p:nvPr/>
        </p:nvSpPr>
        <p:spPr>
          <a:xfrm>
            <a:off x="7984231" y="3294757"/>
            <a:ext cx="3487452" cy="241102"/>
          </a:xfrm>
          <a:prstGeom prst="rect">
            <a:avLst/>
          </a:prstGeom>
          <a:noFill/>
          <a:ln/>
        </p:spPr>
        <p:txBody>
          <a:bodyPr wrap="none" lIns="0" tIns="0" rIns="0" bIns="0" rtlCol="0" anchor="t"/>
          <a:lstStyle/>
          <a:p>
            <a:pPr algn="l" indent="0" marL="0">
              <a:lnSpc>
                <a:spcPct val="104000"/>
              </a:lnSpc>
              <a:buNone/>
            </a:pPr>
            <a:r>
              <a:rPr lang="en-US" sz="1500" dirty="0">
                <a:solidFill>
                  <a:srgbClr val="161613"/>
                </a:solidFill>
                <a:latin typeface="DM Sans Medium" pitchFamily="34" charset="0"/>
                <a:ea typeface="DM Sans Medium" pitchFamily="34" charset="-122"/>
                <a:cs typeface="DM Sans Medium" pitchFamily="34" charset="-120"/>
              </a:rPr>
              <a:t>Assessment &amp; Feedback Systems</a:t>
            </a:r>
            <a:endParaRPr lang="en-US" sz="1500" dirty="0"/>
          </a:p>
        </p:txBody>
      </p:sp>
      <p:sp>
        <p:nvSpPr>
          <p:cNvPr id="12" name="Text 7"/>
          <p:cNvSpPr/>
          <p:nvPr/>
        </p:nvSpPr>
        <p:spPr>
          <a:xfrm>
            <a:off x="7984231" y="3605213"/>
            <a:ext cx="3487452" cy="1079996"/>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Discover intelligent assessment tools that provide automated feedback, progress tracking, and personalised learning recommendations for vocational skills development and competency measurement.</a:t>
            </a:r>
            <a:endParaRPr lang="en-US" sz="1200" dirty="0"/>
          </a:p>
        </p:txBody>
      </p:sp>
      <p:sp>
        <p:nvSpPr>
          <p:cNvPr id="13" name="Text 8"/>
          <p:cNvSpPr/>
          <p:nvPr/>
        </p:nvSpPr>
        <p:spPr>
          <a:xfrm>
            <a:off x="720012" y="5031383"/>
            <a:ext cx="10751670" cy="647998"/>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61613"/>
                </a:solidFill>
                <a:latin typeface="Inter" pitchFamily="34" charset="0"/>
                <a:ea typeface="Inter" pitchFamily="34" charset="-122"/>
                <a:cs typeface="Inter" pitchFamily="34" charset="-120"/>
              </a:rPr>
              <a:t>Each tool presentation includes live demonstrations, step-by-step tutorials, and practical exercises that allow participants to experiment safely within guided parameters. The module emphasises real-world application scenarios, helping educators identify which tools align best with their specific teaching contexts and institutional capabilities.</a:t>
            </a:r>
            <a:endParaRPr lang="en-US" sz="1200" dirty="0"/>
          </a:p>
        </p:txBody>
      </p:sp>
      <p:pic>
        <p:nvPicPr>
          <p:cNvPr id="14" name="Image 3" descr="preencoded.png">
            <a:hlinkClick r:id="rId5" tooltip=""/>
          </p:cNvPr>
          <p:cNvPicPr>
            <a:picLocks noChangeAspect="1"/>
          </p:cNvPicPr>
          <p:nvPr/>
        </p:nvPicPr>
        <p:blipFill>
          <a:blip r:embed="rId4"/>
          <a:stretch>
            <a:fillRect/>
          </a:stretch>
        </p:blipFill>
        <p:spPr>
          <a:xfrm>
            <a:off x="720012" y="5809555"/>
            <a:ext cx="1688562" cy="424259"/>
          </a:xfrm>
          <a:prstGeom prst="rect">
            <a:avLst/>
          </a:prstGeom>
        </p:spPr>
      </p:pic>
      <p:pic>
        <p:nvPicPr>
          <p:cNvPr id="15" name="Image 4" descr="preencoded.png">
            <a:hlinkClick r:id="rId7" tooltip=""/>
          </p:cNvPr>
          <p:cNvPicPr>
            <a:picLocks noChangeAspect="1"/>
          </p:cNvPicPr>
          <p:nvPr/>
        </p:nvPicPr>
        <p:blipFill>
          <a:blip r:embed="rId6"/>
          <a:stretch>
            <a:fillRect/>
          </a:stretch>
        </p:blipFill>
        <p:spPr>
          <a:xfrm>
            <a:off x="2485665" y="5809555"/>
            <a:ext cx="1556306" cy="4242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0012" y="565745"/>
            <a:ext cx="10751670" cy="321469"/>
          </a:xfrm>
          <a:prstGeom prst="rect">
            <a:avLst/>
          </a:prstGeom>
          <a:noFill/>
          <a:ln/>
        </p:spPr>
        <p:txBody>
          <a:bodyPr wrap="none" lIns="0" tIns="0" rIns="0" bIns="0" rtlCol="0" anchor="t"/>
          <a:lstStyle/>
          <a:p>
            <a:pPr algn="l" indent="0" marL="0">
              <a:lnSpc>
                <a:spcPct val="104000"/>
              </a:lnSpc>
              <a:buNone/>
            </a:pPr>
            <a:r>
              <a:rPr lang="en-US" sz="2000" dirty="0">
                <a:solidFill>
                  <a:srgbClr val="161613"/>
                </a:solidFill>
                <a:latin typeface="DM Sans Medium" pitchFamily="34" charset="0"/>
                <a:ea typeface="DM Sans Medium" pitchFamily="34" charset="-122"/>
                <a:cs typeface="DM Sans Medium" pitchFamily="34" charset="-120"/>
              </a:rPr>
              <a:t>Module 4: Prompting - Effective AI Communication</a:t>
            </a:r>
            <a:endParaRPr lang="en-US" sz="2000" dirty="0"/>
          </a:p>
        </p:txBody>
      </p:sp>
      <p:pic>
        <p:nvPicPr>
          <p:cNvPr id="3" name="Image 0" descr="preencoded.png">    </p:cNvPr>
          <p:cNvPicPr>
            <a:picLocks noChangeAspect="1"/>
          </p:cNvPicPr>
          <p:nvPr/>
        </p:nvPicPr>
        <p:blipFill>
          <a:blip r:embed="rId1"/>
          <a:stretch>
            <a:fillRect/>
          </a:stretch>
        </p:blipFill>
        <p:spPr>
          <a:xfrm>
            <a:off x="720012" y="1022152"/>
            <a:ext cx="4150117" cy="4150221"/>
          </a:xfrm>
          <a:prstGeom prst="rect">
            <a:avLst/>
          </a:prstGeom>
        </p:spPr>
      </p:pic>
      <p:sp>
        <p:nvSpPr>
          <p:cNvPr id="4" name="Shape 1"/>
          <p:cNvSpPr/>
          <p:nvPr/>
        </p:nvSpPr>
        <p:spPr>
          <a:xfrm>
            <a:off x="720012" y="5230217"/>
            <a:ext cx="4150117" cy="390723"/>
          </a:xfrm>
          <a:prstGeom prst="roundRect">
            <a:avLst>
              <a:gd name="adj" fmla="val 3949"/>
            </a:avLst>
          </a:prstGeom>
          <a:solidFill>
            <a:srgbClr val="B6FCB8"/>
          </a:solidFill>
          <a:ln/>
        </p:spPr>
      </p:sp>
      <p:pic>
        <p:nvPicPr>
          <p:cNvPr id="5" name="Image 1" descr="preencoded.png">    </p:cNvPr>
          <p:cNvPicPr>
            <a:picLocks noChangeAspect="1"/>
          </p:cNvPicPr>
          <p:nvPr/>
        </p:nvPicPr>
        <p:blipFill>
          <a:blip r:embed="rId2"/>
          <a:stretch>
            <a:fillRect/>
          </a:stretch>
        </p:blipFill>
        <p:spPr>
          <a:xfrm>
            <a:off x="822801" y="5312569"/>
            <a:ext cx="128584" cy="102791"/>
          </a:xfrm>
          <a:prstGeom prst="rect">
            <a:avLst/>
          </a:prstGeom>
        </p:spPr>
      </p:pic>
      <p:sp>
        <p:nvSpPr>
          <p:cNvPr id="6" name="Text 2"/>
          <p:cNvSpPr/>
          <p:nvPr/>
        </p:nvSpPr>
        <p:spPr>
          <a:xfrm>
            <a:off x="1054173" y="5302151"/>
            <a:ext cx="3713169" cy="246856"/>
          </a:xfrm>
          <a:prstGeom prst="rect">
            <a:avLst/>
          </a:prstGeom>
          <a:noFill/>
          <a:ln/>
        </p:spPr>
        <p:txBody>
          <a:bodyPr wrap="square" lIns="0" tIns="0" rIns="0" bIns="0" rtlCol="0" anchor="t">
            <a:normAutofit/>
          </a:bodyPr>
          <a:lstStyle/>
          <a:p>
            <a:pPr algn="l" indent="0" marL="0">
              <a:lnSpc>
                <a:spcPct val="100000"/>
              </a:lnSpc>
              <a:buNone/>
            </a:pPr>
            <a:r>
              <a:rPr lang="en-US" sz="800" b="1" dirty="0">
                <a:solidFill>
                  <a:srgbClr val="000000"/>
                </a:solidFill>
                <a:latin typeface="Inter Bold" pitchFamily="34" charset="0"/>
                <a:ea typeface="Inter Bold" pitchFamily="34" charset="-122"/>
                <a:cs typeface="Inter Bold" pitchFamily="34" charset="-120"/>
              </a:rPr>
              <a:t>Key Skill:</a:t>
            </a:r>
            <a:pPr algn="l" indent="0" marL="0">
              <a:lnSpc>
                <a:spcPct val="100000"/>
              </a:lnSpc>
              <a:buNone/>
            </a:pPr>
            <a:r>
              <a:rPr lang="en-US" sz="800" dirty="0">
                <a:solidFill>
                  <a:srgbClr val="000000"/>
                </a:solidFill>
                <a:latin typeface="Inter" pitchFamily="34" charset="0"/>
                <a:ea typeface="Inter" pitchFamily="34" charset="-122"/>
                <a:cs typeface="Inter" pitchFamily="34" charset="-120"/>
              </a:rPr>
              <a:t> Master the art of prompt engineering for optimal AI interactions and educational outcomes.</a:t>
            </a:r>
            <a:endParaRPr lang="en-US" sz="800" dirty="0"/>
          </a:p>
        </p:txBody>
      </p:sp>
      <p:sp>
        <p:nvSpPr>
          <p:cNvPr id="7" name="Text 3"/>
          <p:cNvSpPr/>
          <p:nvPr/>
        </p:nvSpPr>
        <p:spPr>
          <a:xfrm>
            <a:off x="5127298" y="1010543"/>
            <a:ext cx="6350635" cy="663377"/>
          </a:xfrm>
          <a:prstGeom prst="rect">
            <a:avLst/>
          </a:prstGeom>
          <a:noFill/>
          <a:ln/>
        </p:spPr>
        <p:txBody>
          <a:bodyPr wrap="square" lIns="0" tIns="0" rIns="0" bIns="0" rtlCol="0" anchor="t">
            <a:normAutofit/>
          </a:bodyPr>
          <a:lstStyle/>
          <a:p>
            <a:pPr algn="l" indent="0" marL="0">
              <a:lnSpc>
                <a:spcPct val="100000"/>
              </a:lnSpc>
              <a:spcAft>
                <a:spcPts val="350"/>
              </a:spcAft>
              <a:buNone/>
            </a:pPr>
            <a:r>
              <a:rPr lang="en-US" sz="800" dirty="0">
                <a:solidFill>
                  <a:srgbClr val="161613"/>
                </a:solidFill>
                <a:latin typeface="Inter" pitchFamily="34" charset="0"/>
                <a:ea typeface="Inter" pitchFamily="34" charset="-122"/>
                <a:cs typeface="Inter" pitchFamily="34" charset="-120"/>
              </a:rPr>
              <a:t>The </a:t>
            </a:r>
            <a:pPr algn="l" indent="0" marL="0">
              <a:lnSpc>
                <a:spcPct val="100000"/>
              </a:lnSpc>
              <a:spcAft>
                <a:spcPts val="350"/>
              </a:spcAft>
              <a:buNone/>
            </a:pPr>
            <a:r>
              <a:rPr lang="en-US" sz="800" dirty="0">
                <a:solidFill>
                  <a:srgbClr val="28282F"/>
                </a:solidFill>
                <a:latin typeface="Inter" pitchFamily="34" charset="0"/>
                <a:ea typeface="Inter" pitchFamily="34" charset="-122"/>
                <a:cs typeface="Inter" pitchFamily="34" charset="-120"/>
              </a:rPr>
              <a:t>Prompting module</a:t>
            </a:r>
            <a:pPr algn="l" indent="0" marL="0">
              <a:lnSpc>
                <a:spcPct val="100000"/>
              </a:lnSpc>
              <a:spcAft>
                <a:spcPts val="350"/>
              </a:spcAft>
              <a:buNone/>
            </a:pPr>
            <a:r>
              <a:rPr lang="en-US" sz="800" dirty="0">
                <a:solidFill>
                  <a:srgbClr val="161613"/>
                </a:solidFill>
                <a:latin typeface="Inter" pitchFamily="34" charset="0"/>
                <a:ea typeface="Inter" pitchFamily="34" charset="-122"/>
                <a:cs typeface="Inter" pitchFamily="34" charset="-120"/>
              </a:rPr>
              <a:t> develops critical communication skills for effective AI interaction. This practical unit teaches participants how to construct clear, specific, and results-oriented prompts that maximise AI tool effectiveness within educational contexts.</a:t>
            </a:r>
            <a:endParaRPr lang="en-US" sz="800" dirty="0"/>
          </a:p>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Through structured exercises and progressive skill-building activities, participants learn to craft prompts that generate high-quality educational content, provide meaningful feedback, and support diverse learning needs. The module covers prompt anatomy, context setting, specificity techniques, and iterative refinement strategies.</a:t>
            </a:r>
            <a:endParaRPr lang="en-US" sz="800" dirty="0"/>
          </a:p>
        </p:txBody>
      </p:sp>
      <p:pic>
        <p:nvPicPr>
          <p:cNvPr id="8" name="Image 2" descr="preencoded.png">    </p:cNvPr>
          <p:cNvPicPr>
            <a:picLocks noChangeAspect="1"/>
          </p:cNvPicPr>
          <p:nvPr/>
        </p:nvPicPr>
        <p:blipFill>
          <a:blip r:embed="rId3"/>
          <a:stretch>
            <a:fillRect/>
          </a:stretch>
        </p:blipFill>
        <p:spPr>
          <a:xfrm>
            <a:off x="720012" y="5736630"/>
            <a:ext cx="3583890" cy="411460"/>
          </a:xfrm>
          <a:prstGeom prst="rect">
            <a:avLst/>
          </a:prstGeom>
        </p:spPr>
      </p:pic>
      <p:sp>
        <p:nvSpPr>
          <p:cNvPr id="9" name="Text 4"/>
          <p:cNvSpPr/>
          <p:nvPr/>
        </p:nvSpPr>
        <p:spPr>
          <a:xfrm>
            <a:off x="822801" y="6199485"/>
            <a:ext cx="3378314"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Clarity &amp; Precision</a:t>
            </a:r>
            <a:endParaRPr lang="en-US" sz="1000" dirty="0"/>
          </a:p>
        </p:txBody>
      </p:sp>
      <p:sp>
        <p:nvSpPr>
          <p:cNvPr id="10" name="Text 5"/>
          <p:cNvSpPr/>
          <p:nvPr/>
        </p:nvSpPr>
        <p:spPr>
          <a:xfrm>
            <a:off x="822801" y="6391077"/>
            <a:ext cx="3378314"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Learn to construct unambiguous prompts that clearly communicate educational objectives and desired outcomes, reducing misinterpretation and improving AI response quality.</a:t>
            </a:r>
            <a:endParaRPr lang="en-US" sz="800" dirty="0"/>
          </a:p>
        </p:txBody>
      </p:sp>
      <p:pic>
        <p:nvPicPr>
          <p:cNvPr id="11" name="Image 3" descr="preencoded.png">    </p:cNvPr>
          <p:cNvPicPr>
            <a:picLocks noChangeAspect="1"/>
          </p:cNvPicPr>
          <p:nvPr/>
        </p:nvPicPr>
        <p:blipFill>
          <a:blip r:embed="rId4"/>
          <a:stretch>
            <a:fillRect/>
          </a:stretch>
        </p:blipFill>
        <p:spPr>
          <a:xfrm>
            <a:off x="4303902" y="5736630"/>
            <a:ext cx="3583890" cy="411460"/>
          </a:xfrm>
          <a:prstGeom prst="rect">
            <a:avLst/>
          </a:prstGeom>
        </p:spPr>
      </p:pic>
      <p:sp>
        <p:nvSpPr>
          <p:cNvPr id="12" name="Text 6"/>
          <p:cNvSpPr/>
          <p:nvPr/>
        </p:nvSpPr>
        <p:spPr>
          <a:xfrm>
            <a:off x="4406691" y="6199485"/>
            <a:ext cx="3378314"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Context Integration</a:t>
            </a:r>
            <a:endParaRPr lang="en-US" sz="1000" dirty="0"/>
          </a:p>
        </p:txBody>
      </p:sp>
      <p:sp>
        <p:nvSpPr>
          <p:cNvPr id="13" name="Text 7"/>
          <p:cNvSpPr/>
          <p:nvPr/>
        </p:nvSpPr>
        <p:spPr>
          <a:xfrm>
            <a:off x="4406691" y="6391077"/>
            <a:ext cx="3378314"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Master techniques for providing relevant background information, including learner characteristics, curriculum requirements, and institutional constraints that inform AI responses.</a:t>
            </a:r>
            <a:endParaRPr lang="en-US" sz="800" dirty="0"/>
          </a:p>
        </p:txBody>
      </p:sp>
      <p:pic>
        <p:nvPicPr>
          <p:cNvPr id="14" name="Image 4" descr="preencoded.png">    </p:cNvPr>
          <p:cNvPicPr>
            <a:picLocks noChangeAspect="1"/>
          </p:cNvPicPr>
          <p:nvPr/>
        </p:nvPicPr>
        <p:blipFill>
          <a:blip r:embed="rId5"/>
          <a:stretch>
            <a:fillRect/>
          </a:stretch>
        </p:blipFill>
        <p:spPr>
          <a:xfrm>
            <a:off x="7887793" y="5736630"/>
            <a:ext cx="3583890" cy="411460"/>
          </a:xfrm>
          <a:prstGeom prst="rect">
            <a:avLst/>
          </a:prstGeom>
        </p:spPr>
      </p:pic>
      <p:sp>
        <p:nvSpPr>
          <p:cNvPr id="15" name="Text 8"/>
          <p:cNvSpPr/>
          <p:nvPr/>
        </p:nvSpPr>
        <p:spPr>
          <a:xfrm>
            <a:off x="7990581" y="6199485"/>
            <a:ext cx="3378314"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Iterative Refinement</a:t>
            </a:r>
            <a:endParaRPr lang="en-US" sz="1000" dirty="0"/>
          </a:p>
        </p:txBody>
      </p:sp>
      <p:sp>
        <p:nvSpPr>
          <p:cNvPr id="16" name="Text 9"/>
          <p:cNvSpPr/>
          <p:nvPr/>
        </p:nvSpPr>
        <p:spPr>
          <a:xfrm>
            <a:off x="7990581" y="6391077"/>
            <a:ext cx="3378314" cy="370284"/>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Develop skills for systematically improving prompts based on AI responses, creating feedback loops that enhance both immediate results and long-term interaction effectiveness.</a:t>
            </a:r>
            <a:endParaRPr lang="en-US" sz="800" dirty="0"/>
          </a:p>
        </p:txBody>
      </p:sp>
      <p:sp>
        <p:nvSpPr>
          <p:cNvPr id="17" name="Text 10"/>
          <p:cNvSpPr/>
          <p:nvPr/>
        </p:nvSpPr>
        <p:spPr>
          <a:xfrm>
            <a:off x="720012" y="6921996"/>
            <a:ext cx="10751670" cy="24685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Practical exercises include creating prompts for lesson planning, assessment design, and student support scenarios. Participants work through common prompting challenges and develop personalised strategies that align with their specific TVET contexts and teaching styles.</a:t>
            </a:r>
            <a:endParaRPr lang="en-US" sz="800" dirty="0"/>
          </a:p>
        </p:txBody>
      </p:sp>
      <p:pic>
        <p:nvPicPr>
          <p:cNvPr id="18" name="Image 5" descr="preencoded.png">
            <a:hlinkClick r:id="rId7" tooltip=""/>
          </p:cNvPr>
          <p:cNvPicPr>
            <a:picLocks noChangeAspect="1"/>
          </p:cNvPicPr>
          <p:nvPr/>
        </p:nvPicPr>
        <p:blipFill>
          <a:blip r:embed="rId6"/>
          <a:stretch>
            <a:fillRect/>
          </a:stretch>
        </p:blipFill>
        <p:spPr>
          <a:xfrm>
            <a:off x="720012" y="7226697"/>
            <a:ext cx="1125013" cy="282873"/>
          </a:xfrm>
          <a:prstGeom prst="rect">
            <a:avLst/>
          </a:prstGeom>
        </p:spPr>
      </p:pic>
      <p:pic>
        <p:nvPicPr>
          <p:cNvPr id="19" name="Image 6" descr="preencoded.png">
            <a:hlinkClick r:id="rId9" tooltip=""/>
          </p:cNvPr>
          <p:cNvPicPr>
            <a:picLocks noChangeAspect="1"/>
          </p:cNvPicPr>
          <p:nvPr/>
        </p:nvPicPr>
        <p:blipFill>
          <a:blip r:embed="rId8"/>
          <a:stretch>
            <a:fillRect/>
          </a:stretch>
        </p:blipFill>
        <p:spPr>
          <a:xfrm>
            <a:off x="1896420" y="7226697"/>
            <a:ext cx="1036909" cy="2828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0012" y="681732"/>
            <a:ext cx="10751670" cy="462062"/>
          </a:xfrm>
          <a:prstGeom prst="rect">
            <a:avLst/>
          </a:prstGeom>
          <a:noFill/>
          <a:ln/>
        </p:spPr>
        <p:txBody>
          <a:bodyPr wrap="none" lIns="0" tIns="0" rIns="0" bIns="0" rtlCol="0" anchor="t"/>
          <a:lstStyle/>
          <a:p>
            <a:pPr algn="l" indent="0" marL="0">
              <a:lnSpc>
                <a:spcPct val="104000"/>
              </a:lnSpc>
              <a:buNone/>
            </a:pPr>
            <a:r>
              <a:rPr lang="en-US" sz="2900" dirty="0">
                <a:solidFill>
                  <a:srgbClr val="161613"/>
                </a:solidFill>
                <a:latin typeface="DM Sans Medium" pitchFamily="34" charset="0"/>
                <a:ea typeface="DM Sans Medium" pitchFamily="34" charset="-122"/>
                <a:cs typeface="DM Sans Medium" pitchFamily="34" charset="-120"/>
              </a:rPr>
              <a:t>Module 5: Quality &amp; Ethics - Responsible AI Implementation</a:t>
            </a:r>
            <a:endParaRPr lang="en-US" sz="2900" dirty="0"/>
          </a:p>
        </p:txBody>
      </p:sp>
      <p:sp>
        <p:nvSpPr>
          <p:cNvPr id="3" name="Text 1"/>
          <p:cNvSpPr/>
          <p:nvPr/>
        </p:nvSpPr>
        <p:spPr>
          <a:xfrm>
            <a:off x="720012" y="1356320"/>
            <a:ext cx="10751670" cy="609600"/>
          </a:xfrm>
          <a:prstGeom prst="rect">
            <a:avLst/>
          </a:prstGeom>
          <a:noFill/>
          <a:ln/>
        </p:spPr>
        <p:txBody>
          <a:bodyPr wrap="square" lIns="0" tIns="0" rIns="0" bIns="0" rtlCol="0" anchor="t">
            <a:normAutofit/>
          </a:bodyPr>
          <a:lstStyle/>
          <a:p>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The </a:t>
            </a:r>
            <a:pPr algn="l" indent="0" marL="0">
              <a:lnSpc>
                <a:spcPct val="115000"/>
              </a:lnSpc>
              <a:buNone/>
            </a:pPr>
            <a:r>
              <a:rPr lang="en-US" sz="1150" dirty="0">
                <a:solidFill>
                  <a:srgbClr val="28282F"/>
                </a:solidFill>
                <a:latin typeface="Inter" pitchFamily="34" charset="0"/>
                <a:ea typeface="Inter" pitchFamily="34" charset="-122"/>
                <a:cs typeface="Inter" pitchFamily="34" charset="-120"/>
              </a:rPr>
              <a:t>Quality &amp; Ethics module</a:t>
            </a:r>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 addresses critical considerations for responsible AI implementation in educational settings. This essential unit equips participants with frameworks for evaluating AI quality, identifying potential biases, and maintaining ethical standards throughout their professional practice.</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0012" y="2085479"/>
            <a:ext cx="3513050" cy="3038673"/>
          </a:xfrm>
          <a:prstGeom prst="rect">
            <a:avLst/>
          </a:prstGeom>
        </p:spPr>
      </p:pic>
      <p:sp>
        <p:nvSpPr>
          <p:cNvPr id="5" name="Text 2"/>
          <p:cNvSpPr/>
          <p:nvPr/>
        </p:nvSpPr>
        <p:spPr>
          <a:xfrm>
            <a:off x="963092" y="2252365"/>
            <a:ext cx="3103088" cy="230981"/>
          </a:xfrm>
          <a:prstGeom prst="rect">
            <a:avLst/>
          </a:prstGeom>
          <a:noFill/>
          <a:ln/>
        </p:spPr>
        <p:txBody>
          <a:bodyPr wrap="none" lIns="0" tIns="0" rIns="0" bIns="0" rtlCol="0" anchor="t"/>
          <a:lstStyle/>
          <a:p>
            <a:pPr algn="l" indent="0" marL="0">
              <a:lnSpc>
                <a:spcPct val="104000"/>
              </a:lnSpc>
              <a:buNone/>
            </a:pPr>
            <a:r>
              <a:rPr lang="en-US" sz="1450" dirty="0">
                <a:solidFill>
                  <a:srgbClr val="161613"/>
                </a:solidFill>
                <a:latin typeface="DM Sans Medium" pitchFamily="34" charset="0"/>
                <a:ea typeface="DM Sans Medium" pitchFamily="34" charset="-122"/>
                <a:cs typeface="DM Sans Medium" pitchFamily="34" charset="-120"/>
              </a:rPr>
              <a:t>Bias Recognition &amp; Mitigation</a:t>
            </a:r>
            <a:endParaRPr lang="en-US" sz="1450" dirty="0"/>
          </a:p>
        </p:txBody>
      </p:sp>
      <p:sp>
        <p:nvSpPr>
          <p:cNvPr id="6" name="Text 3"/>
          <p:cNvSpPr/>
          <p:nvPr/>
        </p:nvSpPr>
        <p:spPr>
          <a:xfrm>
            <a:off x="963092" y="2547045"/>
            <a:ext cx="3103088" cy="1422400"/>
          </a:xfrm>
          <a:prstGeom prst="rect">
            <a:avLst/>
          </a:prstGeom>
          <a:noFill/>
          <a:ln/>
        </p:spPr>
        <p:txBody>
          <a:bodyPr wrap="square" lIns="0" tIns="0" rIns="0" bIns="0" rtlCol="0" anchor="t">
            <a:normAutofit/>
          </a:bodyPr>
          <a:lstStyle/>
          <a:p>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Understand how algorithmic bias manifests in educational AI systems and develop strategies for identifying and addressing discriminatory patterns that may disadvantage certain student groups or perpetuate existing inequalities within vocational education.</a:t>
            </a:r>
            <a:endParaRPr lang="en-US" sz="1150" dirty="0"/>
          </a:p>
        </p:txBody>
      </p:sp>
      <p:sp>
        <p:nvSpPr>
          <p:cNvPr id="7" name="Text 4"/>
          <p:cNvSpPr/>
          <p:nvPr/>
        </p:nvSpPr>
        <p:spPr>
          <a:xfrm>
            <a:off x="963092" y="4033143"/>
            <a:ext cx="3103088" cy="924123"/>
          </a:xfrm>
          <a:prstGeom prst="rect">
            <a:avLst/>
          </a:prstGeom>
          <a:noFill/>
          <a:ln/>
        </p:spPr>
        <p:txBody>
          <a:bodyPr wrap="square" lIns="0" tIns="0" rIns="0" bIns="0" rtlCol="0" anchor="t">
            <a:normAutofit/>
          </a:bodyPr>
          <a:lstStyle/>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Common bias types in educational AI</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Detection methodologies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Mitigation strategies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Ongoing monitoring approaches</a:t>
            </a:r>
            <a:endParaRPr lang="en-US" sz="11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323" y="2085479"/>
            <a:ext cx="3513050" cy="3038673"/>
          </a:xfrm>
          <a:prstGeom prst="rect">
            <a:avLst/>
          </a:prstGeom>
        </p:spPr>
      </p:pic>
      <p:sp>
        <p:nvSpPr>
          <p:cNvPr id="9" name="Text 5"/>
          <p:cNvSpPr/>
          <p:nvPr/>
        </p:nvSpPr>
        <p:spPr>
          <a:xfrm>
            <a:off x="4582403" y="2252365"/>
            <a:ext cx="3103088" cy="230981"/>
          </a:xfrm>
          <a:prstGeom prst="rect">
            <a:avLst/>
          </a:prstGeom>
          <a:noFill/>
          <a:ln/>
        </p:spPr>
        <p:txBody>
          <a:bodyPr wrap="none" lIns="0" tIns="0" rIns="0" bIns="0" rtlCol="0" anchor="t"/>
          <a:lstStyle/>
          <a:p>
            <a:pPr algn="l" indent="0" marL="0">
              <a:lnSpc>
                <a:spcPct val="104000"/>
              </a:lnSpc>
              <a:buNone/>
            </a:pPr>
            <a:r>
              <a:rPr lang="en-US" sz="1450" dirty="0">
                <a:solidFill>
                  <a:srgbClr val="161613"/>
                </a:solidFill>
                <a:latin typeface="DM Sans Medium" pitchFamily="34" charset="0"/>
                <a:ea typeface="DM Sans Medium" pitchFamily="34" charset="-122"/>
                <a:cs typeface="DM Sans Medium" pitchFamily="34" charset="-120"/>
              </a:rPr>
              <a:t>Transparency &amp; Accountability</a:t>
            </a:r>
            <a:endParaRPr lang="en-US" sz="1450" dirty="0"/>
          </a:p>
        </p:txBody>
      </p:sp>
      <p:sp>
        <p:nvSpPr>
          <p:cNvPr id="10" name="Text 6"/>
          <p:cNvSpPr/>
          <p:nvPr/>
        </p:nvSpPr>
        <p:spPr>
          <a:xfrm>
            <a:off x="4582403" y="2547045"/>
            <a:ext cx="3103088" cy="1422400"/>
          </a:xfrm>
          <a:prstGeom prst="rect">
            <a:avLst/>
          </a:prstGeom>
          <a:noFill/>
          <a:ln/>
        </p:spPr>
        <p:txBody>
          <a:bodyPr wrap="square" lIns="0" tIns="0" rIns="0" bIns="0" rtlCol="0" anchor="t">
            <a:normAutofit/>
          </a:bodyPr>
          <a:lstStyle/>
          <a:p>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Explore principles of transparent AI use, including clear communication with students about AI involvement in their learning experience, maintaining human oversight in critical decisions, and establishing accountability frameworks for AI-supported educational practices.</a:t>
            </a:r>
            <a:endParaRPr lang="en-US" sz="1150" dirty="0"/>
          </a:p>
        </p:txBody>
      </p:sp>
      <p:sp>
        <p:nvSpPr>
          <p:cNvPr id="11" name="Text 7"/>
          <p:cNvSpPr/>
          <p:nvPr/>
        </p:nvSpPr>
        <p:spPr>
          <a:xfrm>
            <a:off x="4582403" y="4033143"/>
            <a:ext cx="3103088" cy="924123"/>
          </a:xfrm>
          <a:prstGeom prst="rect">
            <a:avLst/>
          </a:prstGeom>
          <a:noFill/>
          <a:ln/>
        </p:spPr>
        <p:txBody>
          <a:bodyPr wrap="square" lIns="0" tIns="0" rIns="0" bIns="0" rtlCol="0" anchor="t">
            <a:normAutofit/>
          </a:bodyPr>
          <a:lstStyle/>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Disclosure requirements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Human-in-the-loop protocols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Decision audit trails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Student rights protection</a:t>
            </a:r>
            <a:endParaRPr lang="en-US" sz="11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58633" y="2085479"/>
            <a:ext cx="3513050" cy="3038673"/>
          </a:xfrm>
          <a:prstGeom prst="rect">
            <a:avLst/>
          </a:prstGeom>
        </p:spPr>
      </p:pic>
      <p:sp>
        <p:nvSpPr>
          <p:cNvPr id="13" name="Text 8"/>
          <p:cNvSpPr/>
          <p:nvPr/>
        </p:nvSpPr>
        <p:spPr>
          <a:xfrm>
            <a:off x="8201713" y="2252365"/>
            <a:ext cx="3103088" cy="230981"/>
          </a:xfrm>
          <a:prstGeom prst="rect">
            <a:avLst/>
          </a:prstGeom>
          <a:noFill/>
          <a:ln/>
        </p:spPr>
        <p:txBody>
          <a:bodyPr wrap="none" lIns="0" tIns="0" rIns="0" bIns="0" rtlCol="0" anchor="t"/>
          <a:lstStyle/>
          <a:p>
            <a:pPr algn="l" indent="0" marL="0">
              <a:lnSpc>
                <a:spcPct val="104000"/>
              </a:lnSpc>
              <a:buNone/>
            </a:pPr>
            <a:r>
              <a:rPr lang="en-US" sz="1450" dirty="0">
                <a:solidFill>
                  <a:srgbClr val="161613"/>
                </a:solidFill>
                <a:latin typeface="DM Sans Medium" pitchFamily="34" charset="0"/>
                <a:ea typeface="DM Sans Medium" pitchFamily="34" charset="-122"/>
                <a:cs typeface="DM Sans Medium" pitchFamily="34" charset="-120"/>
              </a:rPr>
              <a:t>Quality Assurance Frameworks</a:t>
            </a:r>
            <a:endParaRPr lang="en-US" sz="1450" dirty="0"/>
          </a:p>
        </p:txBody>
      </p:sp>
      <p:sp>
        <p:nvSpPr>
          <p:cNvPr id="14" name="Text 9"/>
          <p:cNvSpPr/>
          <p:nvPr/>
        </p:nvSpPr>
        <p:spPr>
          <a:xfrm>
            <a:off x="8201713" y="2547045"/>
            <a:ext cx="3103088" cy="1422400"/>
          </a:xfrm>
          <a:prstGeom prst="rect">
            <a:avLst/>
          </a:prstGeom>
          <a:noFill/>
          <a:ln/>
        </p:spPr>
        <p:txBody>
          <a:bodyPr wrap="square" lIns="0" tIns="0" rIns="0" bIns="0" rtlCol="0" anchor="t">
            <a:normAutofit/>
          </a:bodyPr>
          <a:lstStyle/>
          <a:p>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Develop systematic approaches for evaluating AI output quality, including accuracy verification, relevance assessment, and alignment with educational objectives. Learn to implement quality control processes that maintain educational standards whilst leveraging AI capabilities.</a:t>
            </a:r>
            <a:endParaRPr lang="en-US" sz="1150" dirty="0"/>
          </a:p>
        </p:txBody>
      </p:sp>
      <p:sp>
        <p:nvSpPr>
          <p:cNvPr id="15" name="Text 10"/>
          <p:cNvSpPr/>
          <p:nvPr/>
        </p:nvSpPr>
        <p:spPr>
          <a:xfrm>
            <a:off x="8201713" y="4033143"/>
            <a:ext cx="3103088" cy="924123"/>
          </a:xfrm>
          <a:prstGeom prst="rect">
            <a:avLst/>
          </a:prstGeom>
          <a:noFill/>
          <a:ln/>
        </p:spPr>
        <p:txBody>
          <a:bodyPr wrap="square" lIns="0" tIns="0" rIns="0" bIns="0" rtlCol="0" anchor="t">
            <a:normAutofit/>
          </a:bodyPr>
          <a:lstStyle/>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Output verification methods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Relevance criteria</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Accuracy checking protocols</a:t>
            </a:r>
            <a:endParaRPr lang="en-US" sz="1150" dirty="0"/>
          </a:p>
          <a:p>
            <a:pPr algn="l" marL="233680" indent="-233680">
              <a:lnSpc>
                <a:spcPct val="115000"/>
              </a:lnSpc>
              <a:buSzPct val="100000"/>
              <a:buChar char="•"/>
            </a:pPr>
            <a:r>
              <a:rPr lang="en-US" sz="1150" dirty="0">
                <a:solidFill>
                  <a:srgbClr val="161613"/>
                </a:solidFill>
                <a:latin typeface="Inter" pitchFamily="34" charset="0"/>
                <a:ea typeface="Inter" pitchFamily="34" charset="-122"/>
                <a:cs typeface="Inter" pitchFamily="34" charset="-120"/>
              </a:rPr>
              <a:t>Continuous improvement cycles</a:t>
            </a:r>
            <a:endParaRPr lang="en-US" sz="1150" dirty="0"/>
          </a:p>
        </p:txBody>
      </p:sp>
      <p:sp>
        <p:nvSpPr>
          <p:cNvPr id="16" name="Text 11"/>
          <p:cNvSpPr/>
          <p:nvPr/>
        </p:nvSpPr>
        <p:spPr>
          <a:xfrm>
            <a:off x="720012" y="5243711"/>
            <a:ext cx="10751670" cy="406400"/>
          </a:xfrm>
          <a:prstGeom prst="rect">
            <a:avLst/>
          </a:prstGeom>
          <a:noFill/>
          <a:ln/>
        </p:spPr>
        <p:txBody>
          <a:bodyPr wrap="square" lIns="0" tIns="0" rIns="0" bIns="0" rtlCol="0" anchor="t">
            <a:normAutofit/>
          </a:bodyPr>
          <a:lstStyle/>
          <a:p>
            <a:pPr algn="l" indent="0" marL="0">
              <a:lnSpc>
                <a:spcPct val="115000"/>
              </a:lnSpc>
              <a:buNone/>
            </a:pPr>
            <a:r>
              <a:rPr lang="en-US" sz="1150" dirty="0">
                <a:solidFill>
                  <a:srgbClr val="161613"/>
                </a:solidFill>
                <a:latin typeface="Inter" pitchFamily="34" charset="0"/>
                <a:ea typeface="Inter" pitchFamily="34" charset="-122"/>
                <a:cs typeface="Inter" pitchFamily="34" charset="-120"/>
              </a:rPr>
              <a:t>The module includes case studies from real educational implementations, ethical decision-making frameworks, and practical checklists for ongoing quality and ethics monitoring. Participants develop institutional guidelines that support responsible AI adoption within their specific contexts.</a:t>
            </a:r>
            <a:endParaRPr lang="en-US" sz="1150" dirty="0"/>
          </a:p>
        </p:txBody>
      </p:sp>
      <p:pic>
        <p:nvPicPr>
          <p:cNvPr id="17" name="Image 3" descr="preencoded.png">
            <a:hlinkClick r:id="rId8" tooltip=""/>
          </p:cNvPr>
          <p:cNvPicPr>
            <a:picLocks noChangeAspect="1"/>
          </p:cNvPicPr>
          <p:nvPr/>
        </p:nvPicPr>
        <p:blipFill>
          <a:blip r:embed="rId7"/>
          <a:stretch>
            <a:fillRect/>
          </a:stretch>
        </p:blipFill>
        <p:spPr>
          <a:xfrm>
            <a:off x="720012" y="5769670"/>
            <a:ext cx="1617126" cy="406598"/>
          </a:xfrm>
          <a:prstGeom prst="rect">
            <a:avLst/>
          </a:prstGeom>
        </p:spPr>
      </p:pic>
      <p:pic>
        <p:nvPicPr>
          <p:cNvPr id="18" name="Image 4" descr="preencoded.png">
            <a:hlinkClick r:id="rId10" tooltip=""/>
          </p:cNvPr>
          <p:cNvPicPr>
            <a:picLocks noChangeAspect="1"/>
          </p:cNvPicPr>
          <p:nvPr/>
        </p:nvPicPr>
        <p:blipFill>
          <a:blip r:embed="rId9"/>
          <a:stretch>
            <a:fillRect/>
          </a:stretch>
        </p:blipFill>
        <p:spPr>
          <a:xfrm>
            <a:off x="2411055" y="5769670"/>
            <a:ext cx="1490427" cy="4065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0012" y="565745"/>
            <a:ext cx="10751670" cy="321469"/>
          </a:xfrm>
          <a:prstGeom prst="rect">
            <a:avLst/>
          </a:prstGeom>
          <a:noFill/>
          <a:ln/>
        </p:spPr>
        <p:txBody>
          <a:bodyPr wrap="none" lIns="0" tIns="0" rIns="0" bIns="0" rtlCol="0" anchor="t"/>
          <a:lstStyle/>
          <a:p>
            <a:pPr algn="l" indent="0" marL="0">
              <a:lnSpc>
                <a:spcPct val="104000"/>
              </a:lnSpc>
              <a:buNone/>
            </a:pPr>
            <a:r>
              <a:rPr lang="en-US" sz="2000" dirty="0">
                <a:solidFill>
                  <a:srgbClr val="161613"/>
                </a:solidFill>
                <a:latin typeface="DM Sans Medium" pitchFamily="34" charset="0"/>
                <a:ea typeface="DM Sans Medium" pitchFamily="34" charset="-122"/>
                <a:cs typeface="DM Sans Medium" pitchFamily="34" charset="-120"/>
              </a:rPr>
              <a:t>Course Features &amp; Contact Information</a:t>
            </a:r>
            <a:endParaRPr lang="en-US" sz="2000" dirty="0"/>
          </a:p>
        </p:txBody>
      </p:sp>
      <p:sp>
        <p:nvSpPr>
          <p:cNvPr id="3" name="Text 1"/>
          <p:cNvSpPr/>
          <p:nvPr/>
        </p:nvSpPr>
        <p:spPr>
          <a:xfrm>
            <a:off x="720012" y="1041400"/>
            <a:ext cx="3541029" cy="339427"/>
          </a:xfrm>
          <a:prstGeom prst="rect">
            <a:avLst/>
          </a:prstGeom>
          <a:noFill/>
          <a:ln/>
        </p:spPr>
        <p:txBody>
          <a:bodyPr wrap="none" lIns="0" tIns="0" rIns="0" bIns="0" rtlCol="0" anchor="t"/>
          <a:lstStyle/>
          <a:p>
            <a:pPr algn="ctr" indent="0" marL="0">
              <a:lnSpc>
                <a:spcPct val="83000"/>
              </a:lnSpc>
              <a:buNone/>
            </a:pPr>
            <a:r>
              <a:rPr lang="en-US" sz="2650" dirty="0">
                <a:solidFill>
                  <a:srgbClr val="161613"/>
                </a:solidFill>
                <a:latin typeface="DM Sans Medium" pitchFamily="34" charset="0"/>
                <a:ea typeface="DM Sans Medium" pitchFamily="34" charset="-122"/>
                <a:cs typeface="DM Sans Medium" pitchFamily="34" charset="-120"/>
              </a:rPr>
              <a:t>100%</a:t>
            </a:r>
            <a:endParaRPr lang="en-US" sz="2650" dirty="0"/>
          </a:p>
        </p:txBody>
      </p:sp>
      <p:sp>
        <p:nvSpPr>
          <p:cNvPr id="4" name="Text 2"/>
          <p:cNvSpPr/>
          <p:nvPr/>
        </p:nvSpPr>
        <p:spPr>
          <a:xfrm>
            <a:off x="720012" y="1470720"/>
            <a:ext cx="3541029" cy="160734"/>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Online Access</a:t>
            </a:r>
            <a:endParaRPr lang="en-US" sz="1000" dirty="0"/>
          </a:p>
        </p:txBody>
      </p:sp>
      <p:sp>
        <p:nvSpPr>
          <p:cNvPr id="5" name="Text 3"/>
          <p:cNvSpPr/>
          <p:nvPr/>
        </p:nvSpPr>
        <p:spPr>
          <a:xfrm>
            <a:off x="720012" y="1662311"/>
            <a:ext cx="3541029" cy="246856"/>
          </a:xfrm>
          <a:prstGeom prst="rect">
            <a:avLst/>
          </a:prstGeom>
          <a:noFill/>
          <a:ln/>
        </p:spPr>
        <p:txBody>
          <a:bodyPr wrap="square" lIns="0" tIns="0" rIns="0" bIns="0" rtlCol="0" anchor="t">
            <a:normAutofit/>
          </a:bodyPr>
          <a:lstStyle/>
          <a:p>
            <a:pPr algn="ctr" indent="0" marL="0">
              <a:lnSpc>
                <a:spcPct val="100000"/>
              </a:lnSpc>
              <a:buNone/>
            </a:pPr>
            <a:r>
              <a:rPr lang="en-US" sz="800" dirty="0">
                <a:solidFill>
                  <a:srgbClr val="161613"/>
                </a:solidFill>
                <a:latin typeface="Inter" pitchFamily="34" charset="0"/>
                <a:ea typeface="Inter" pitchFamily="34" charset="-122"/>
                <a:cs typeface="Inter" pitchFamily="34" charset="-120"/>
              </a:rPr>
              <a:t>Fully web-based learning platform accessible from any device with internet connectivity</a:t>
            </a:r>
            <a:endParaRPr lang="en-US" sz="800" dirty="0"/>
          </a:p>
        </p:txBody>
      </p:sp>
      <p:sp>
        <p:nvSpPr>
          <p:cNvPr id="6" name="Text 4"/>
          <p:cNvSpPr/>
          <p:nvPr/>
        </p:nvSpPr>
        <p:spPr>
          <a:xfrm>
            <a:off x="4325333" y="1041400"/>
            <a:ext cx="3541029" cy="339427"/>
          </a:xfrm>
          <a:prstGeom prst="rect">
            <a:avLst/>
          </a:prstGeom>
          <a:noFill/>
          <a:ln/>
        </p:spPr>
        <p:txBody>
          <a:bodyPr wrap="none" lIns="0" tIns="0" rIns="0" bIns="0" rtlCol="0" anchor="t"/>
          <a:lstStyle/>
          <a:p>
            <a:pPr algn="ctr" indent="0" marL="0">
              <a:lnSpc>
                <a:spcPct val="83000"/>
              </a:lnSpc>
              <a:buNone/>
            </a:pPr>
            <a:r>
              <a:rPr lang="en-US" sz="2650" dirty="0">
                <a:solidFill>
                  <a:srgbClr val="161613"/>
                </a:solidFill>
                <a:latin typeface="DM Sans Medium" pitchFamily="34" charset="0"/>
                <a:ea typeface="DM Sans Medium" pitchFamily="34" charset="-122"/>
                <a:cs typeface="DM Sans Medium" pitchFamily="34" charset="-120"/>
              </a:rPr>
              <a:t>24/7</a:t>
            </a:r>
            <a:endParaRPr lang="en-US" sz="2650" dirty="0"/>
          </a:p>
        </p:txBody>
      </p:sp>
      <p:sp>
        <p:nvSpPr>
          <p:cNvPr id="7" name="Text 5"/>
          <p:cNvSpPr/>
          <p:nvPr/>
        </p:nvSpPr>
        <p:spPr>
          <a:xfrm>
            <a:off x="4325333" y="1470720"/>
            <a:ext cx="3541029" cy="160734"/>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Self-Paced</a:t>
            </a:r>
            <a:endParaRPr lang="en-US" sz="1000" dirty="0"/>
          </a:p>
        </p:txBody>
      </p:sp>
      <p:sp>
        <p:nvSpPr>
          <p:cNvPr id="8" name="Text 6"/>
          <p:cNvSpPr/>
          <p:nvPr/>
        </p:nvSpPr>
        <p:spPr>
          <a:xfrm>
            <a:off x="4325333" y="1662311"/>
            <a:ext cx="3541029" cy="246856"/>
          </a:xfrm>
          <a:prstGeom prst="rect">
            <a:avLst/>
          </a:prstGeom>
          <a:noFill/>
          <a:ln/>
        </p:spPr>
        <p:txBody>
          <a:bodyPr wrap="square" lIns="0" tIns="0" rIns="0" bIns="0" rtlCol="0" anchor="t">
            <a:normAutofit/>
          </a:bodyPr>
          <a:lstStyle/>
          <a:p>
            <a:pPr algn="ctr" indent="0" marL="0">
              <a:lnSpc>
                <a:spcPct val="100000"/>
              </a:lnSpc>
              <a:buNone/>
            </a:pPr>
            <a:r>
              <a:rPr lang="en-US" sz="800" dirty="0">
                <a:solidFill>
                  <a:srgbClr val="161613"/>
                </a:solidFill>
                <a:latin typeface="Inter" pitchFamily="34" charset="0"/>
                <a:ea typeface="Inter" pitchFamily="34" charset="-122"/>
                <a:cs typeface="Inter" pitchFamily="34" charset="-120"/>
              </a:rPr>
              <a:t>Learn at your own rhythm with no fixed schedule constraints or deadline pressures</a:t>
            </a:r>
            <a:endParaRPr lang="en-US" sz="800" dirty="0"/>
          </a:p>
        </p:txBody>
      </p:sp>
      <p:sp>
        <p:nvSpPr>
          <p:cNvPr id="9" name="Text 7"/>
          <p:cNvSpPr/>
          <p:nvPr/>
        </p:nvSpPr>
        <p:spPr>
          <a:xfrm>
            <a:off x="7930654" y="1041400"/>
            <a:ext cx="3541029" cy="339427"/>
          </a:xfrm>
          <a:prstGeom prst="rect">
            <a:avLst/>
          </a:prstGeom>
          <a:noFill/>
          <a:ln/>
        </p:spPr>
        <p:txBody>
          <a:bodyPr wrap="none" lIns="0" tIns="0" rIns="0" bIns="0" rtlCol="0" anchor="t"/>
          <a:lstStyle/>
          <a:p>
            <a:pPr algn="ctr" indent="0" marL="0">
              <a:lnSpc>
                <a:spcPct val="83000"/>
              </a:lnSpc>
              <a:buNone/>
            </a:pPr>
            <a:r>
              <a:rPr lang="en-US" sz="2650" dirty="0">
                <a:solidFill>
                  <a:srgbClr val="161613"/>
                </a:solidFill>
                <a:latin typeface="DM Sans Medium" pitchFamily="34" charset="0"/>
                <a:ea typeface="DM Sans Medium" pitchFamily="34" charset="-122"/>
                <a:cs typeface="DM Sans Medium" pitchFamily="34" charset="-120"/>
              </a:rPr>
              <a:t>0</a:t>
            </a:r>
            <a:endParaRPr lang="en-US" sz="2650" dirty="0"/>
          </a:p>
        </p:txBody>
      </p:sp>
      <p:sp>
        <p:nvSpPr>
          <p:cNvPr id="10" name="Text 8"/>
          <p:cNvSpPr/>
          <p:nvPr/>
        </p:nvSpPr>
        <p:spPr>
          <a:xfrm>
            <a:off x="7930654" y="1470720"/>
            <a:ext cx="3541029" cy="160734"/>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Cost Barrier</a:t>
            </a:r>
            <a:endParaRPr lang="en-US" sz="1000" dirty="0"/>
          </a:p>
        </p:txBody>
      </p:sp>
      <p:sp>
        <p:nvSpPr>
          <p:cNvPr id="11" name="Text 9"/>
          <p:cNvSpPr/>
          <p:nvPr/>
        </p:nvSpPr>
        <p:spPr>
          <a:xfrm>
            <a:off x="7930654" y="1662311"/>
            <a:ext cx="3541029" cy="246856"/>
          </a:xfrm>
          <a:prstGeom prst="rect">
            <a:avLst/>
          </a:prstGeom>
          <a:noFill/>
          <a:ln/>
        </p:spPr>
        <p:txBody>
          <a:bodyPr wrap="square" lIns="0" tIns="0" rIns="0" bIns="0" rtlCol="0" anchor="t">
            <a:normAutofit/>
          </a:bodyPr>
          <a:lstStyle/>
          <a:p>
            <a:pPr algn="ctr" indent="0" marL="0">
              <a:lnSpc>
                <a:spcPct val="100000"/>
              </a:lnSpc>
              <a:buNone/>
            </a:pPr>
            <a:r>
              <a:rPr lang="en-US" sz="800" dirty="0">
                <a:solidFill>
                  <a:srgbClr val="161613"/>
                </a:solidFill>
                <a:latin typeface="Inter" pitchFamily="34" charset="0"/>
                <a:ea typeface="Inter" pitchFamily="34" charset="-122"/>
                <a:cs typeface="Inter" pitchFamily="34" charset="-120"/>
              </a:rPr>
              <a:t>Completely free access ensuring global accessibility regardless of institutional budget</a:t>
            </a:r>
            <a:endParaRPr lang="en-US" sz="800" dirty="0"/>
          </a:p>
        </p:txBody>
      </p:sp>
      <p:sp>
        <p:nvSpPr>
          <p:cNvPr id="12" name="Text 10"/>
          <p:cNvSpPr/>
          <p:nvPr/>
        </p:nvSpPr>
        <p:spPr>
          <a:xfrm>
            <a:off x="720012" y="2018407"/>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Technical Features</a:t>
            </a:r>
            <a:endParaRPr lang="en-US" sz="1000" dirty="0"/>
          </a:p>
        </p:txBody>
      </p:sp>
      <p:sp>
        <p:nvSpPr>
          <p:cNvPr id="13" name="Text 11"/>
          <p:cNvSpPr/>
          <p:nvPr/>
        </p:nvSpPr>
        <p:spPr>
          <a:xfrm>
            <a:off x="720012" y="2230537"/>
            <a:ext cx="5250426" cy="671016"/>
          </a:xfrm>
          <a:prstGeom prst="rect">
            <a:avLst/>
          </a:prstGeom>
          <a:noFill/>
          <a:ln/>
        </p:spPr>
        <p:txBody>
          <a:bodyPr wrap="square" lIns="0" tIns="0" rIns="0" bIns="0" rtlCol="0" anchor="t">
            <a:normAutofit/>
          </a:bodyPr>
          <a:lstStyle/>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Interactive Elements:</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Quizzes, exercises, and hands-on demonstrations embedded throughout all modules</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Offline Capability:</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Downloadable content for low-bandwidth or intermittent connectivity environments</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Multilingual Support:</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Adaptable framework enabling localisation for diverse global audiences</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Open Access:</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Creative Commons licensing supporting institutional customisation and local adaptation</a:t>
            </a:r>
            <a:endParaRPr lang="en-US" sz="800" dirty="0"/>
          </a:p>
        </p:txBody>
      </p:sp>
      <p:sp>
        <p:nvSpPr>
          <p:cNvPr id="14" name="Text 12"/>
          <p:cNvSpPr/>
          <p:nvPr/>
        </p:nvSpPr>
        <p:spPr>
          <a:xfrm>
            <a:off x="6227607" y="2018407"/>
            <a:ext cx="5250426"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Educational Benefits</a:t>
            </a:r>
            <a:endParaRPr lang="en-US" sz="1000" dirty="0"/>
          </a:p>
        </p:txBody>
      </p:sp>
      <p:sp>
        <p:nvSpPr>
          <p:cNvPr id="15" name="Text 13"/>
          <p:cNvSpPr/>
          <p:nvPr/>
        </p:nvSpPr>
        <p:spPr>
          <a:xfrm>
            <a:off x="6227607" y="2230537"/>
            <a:ext cx="5250426" cy="547588"/>
          </a:xfrm>
          <a:prstGeom prst="rect">
            <a:avLst/>
          </a:prstGeom>
          <a:noFill/>
          <a:ln/>
        </p:spPr>
        <p:txBody>
          <a:bodyPr wrap="square" lIns="0" tIns="0" rIns="0" bIns="0" rtlCol="0" anchor="t">
            <a:normAutofit/>
          </a:bodyPr>
          <a:lstStyle/>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Microlearning Design:</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Bite-sized units that fit busy professional schedules</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Practical Focus:</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Real-world applications directly relevant to TVET contexts</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Progressive Complexity:</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Scaffolded learning that builds confidence systematically</a:t>
            </a:r>
            <a:endParaRPr lang="en-US" sz="800" dirty="0"/>
          </a:p>
          <a:p>
            <a:pPr algn="l" marL="162560" indent="-162560">
              <a:lnSpc>
                <a:spcPct val="100000"/>
              </a:lnSpc>
              <a:buSzPct val="100000"/>
              <a:buChar char="•"/>
            </a:pPr>
            <a:r>
              <a:rPr lang="en-US" sz="800" b="1" dirty="0">
                <a:solidFill>
                  <a:srgbClr val="161613"/>
                </a:solidFill>
                <a:latin typeface="Inter Bold" pitchFamily="34" charset="0"/>
                <a:ea typeface="Inter Bold" pitchFamily="34" charset="-122"/>
                <a:cs typeface="Inter Bold" pitchFamily="34" charset="-120"/>
              </a:rPr>
              <a:t>Flexible Integration:</a:t>
            </a:r>
            <a:pPr algn="l" marL="162560" indent="-162560">
              <a:lnSpc>
                <a:spcPct val="100000"/>
              </a:lnSpc>
              <a:buSzPct val="100000"/>
              <a:buChar char="•"/>
            </a:pPr>
            <a:r>
              <a:rPr lang="en-US" sz="800" dirty="0">
                <a:solidFill>
                  <a:srgbClr val="161613"/>
                </a:solidFill>
                <a:latin typeface="Inter" pitchFamily="34" charset="0"/>
                <a:ea typeface="Inter" pitchFamily="34" charset="-122"/>
                <a:cs typeface="Inter" pitchFamily="34" charset="-120"/>
              </a:rPr>
              <a:t> Compatible with existing professional development programmes</a:t>
            </a:r>
            <a:endParaRPr lang="en-US" sz="800" dirty="0"/>
          </a:p>
        </p:txBody>
      </p:sp>
      <p:sp>
        <p:nvSpPr>
          <p:cNvPr id="16" name="Shape 14"/>
          <p:cNvSpPr/>
          <p:nvPr/>
        </p:nvSpPr>
        <p:spPr>
          <a:xfrm>
            <a:off x="720012" y="3003054"/>
            <a:ext cx="10751670" cy="12700"/>
          </a:xfrm>
          <a:prstGeom prst="roundRect">
            <a:avLst>
              <a:gd name="adj" fmla="val 49999"/>
            </a:avLst>
          </a:prstGeom>
          <a:solidFill>
            <a:srgbClr val="161613">
              <a:alpha val="50000"/>
            </a:srgbClr>
          </a:solidFill>
          <a:ln/>
        </p:spPr>
      </p:sp>
      <p:sp>
        <p:nvSpPr>
          <p:cNvPr id="17" name="Text 15"/>
          <p:cNvSpPr/>
          <p:nvPr/>
        </p:nvSpPr>
        <p:spPr>
          <a:xfrm>
            <a:off x="720012" y="3150691"/>
            <a:ext cx="6350635" cy="160734"/>
          </a:xfrm>
          <a:prstGeom prst="rect">
            <a:avLst/>
          </a:prstGeom>
          <a:noFill/>
          <a:ln/>
        </p:spPr>
        <p:txBody>
          <a:bodyPr wrap="none" lIns="0" tIns="0" rIns="0" bIns="0" rtlCol="0" anchor="t"/>
          <a:lstStyle/>
          <a:p>
            <a:pPr algn="l"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Project Contact</a:t>
            </a:r>
            <a:endParaRPr lang="en-US" sz="1000" dirty="0"/>
          </a:p>
        </p:txBody>
      </p:sp>
      <p:sp>
        <p:nvSpPr>
          <p:cNvPr id="18" name="Text 16"/>
          <p:cNvSpPr/>
          <p:nvPr/>
        </p:nvSpPr>
        <p:spPr>
          <a:xfrm>
            <a:off x="720012" y="3362821"/>
            <a:ext cx="6350635" cy="663377"/>
          </a:xfrm>
          <a:prstGeom prst="rect">
            <a:avLst/>
          </a:prstGeom>
          <a:noFill/>
          <a:ln/>
        </p:spPr>
        <p:txBody>
          <a:bodyPr wrap="square" lIns="0" tIns="0" rIns="0" bIns="0" rtlCol="0" anchor="t"/>
          <a:lstStyle/>
          <a:p>
            <a:pPr algn="l" indent="0" marL="0">
              <a:lnSpc>
                <a:spcPct val="100000"/>
              </a:lnSpc>
              <a:spcAft>
                <a:spcPts val="350"/>
              </a:spcAft>
              <a:buNone/>
            </a:pPr>
            <a:r>
              <a:rPr lang="en-US" sz="800" dirty="0">
                <a:solidFill>
                  <a:srgbClr val="161613"/>
                </a:solidFill>
                <a:latin typeface="Inter" pitchFamily="34" charset="0"/>
                <a:ea typeface="Inter" pitchFamily="34" charset="-122"/>
                <a:cs typeface="Inter" pitchFamily="34" charset="-120"/>
              </a:rPr>
              <a:t>For additional information, technical support, or partnership enquiries, please contact our programme coordinator:</a:t>
            </a:r>
            <a:endParaRPr lang="en-US" sz="800" dirty="0"/>
          </a:p>
          <a:p>
            <a:pPr algn="l" indent="0" marL="0">
              <a:lnSpc>
                <a:spcPct val="100000"/>
              </a:lnSpc>
              <a:buNone/>
            </a:pPr>
            <a:r>
              <a:rPr lang="en-US" sz="800" b="1" dirty="0">
                <a:solidFill>
                  <a:srgbClr val="161613"/>
                </a:solidFill>
                <a:latin typeface="Inter Bold" pitchFamily="34" charset="0"/>
                <a:ea typeface="Inter Bold" pitchFamily="34" charset="-122"/>
                <a:cs typeface="Inter Bold" pitchFamily="34" charset="-120"/>
              </a:rPr>
              <a:t>Hannes Tegelbeckers</a:t>
            </a:r>
            <a:endParaRPr lang="en-US" sz="800" dirty="0"/>
          </a:p>
          <a:p>
            <a:pPr algn="l" indent="0" marL="0">
              <a:lnSpc>
                <a:spcPct val="100000"/>
              </a:lnSpc>
              <a:buNone/>
            </a:pPr>
            <a:r>
              <a:rPr lang="en-US" sz="800" dirty="0">
                <a:solidFill>
                  <a:srgbClr val="161613"/>
                </a:solidFill>
                <a:latin typeface="Inter" pitchFamily="34" charset="0"/>
                <a:ea typeface="Inter" pitchFamily="34" charset="-122"/>
                <a:cs typeface="Inter" pitchFamily="34" charset="-120"/>
              </a:rPr>
              <a:t>Otto von Guericke University Magdeburg</a:t>
            </a:r>
            <a:endParaRPr lang="en-US" sz="800" dirty="0"/>
          </a:p>
          <a:p>
            <a:pPr algn="l" indent="0" marL="0">
              <a:lnSpc>
                <a:spcPct val="100000"/>
              </a:lnSpc>
              <a:buNone/>
            </a:pPr>
            <a:r>
              <a:rPr lang="en-US" sz="800" dirty="0">
                <a:solidFill>
                  <a:srgbClr val="000000"/>
                </a:solidFill>
                <a:latin typeface="Noto Color Emoji" pitchFamily="34" charset="0"/>
                <a:ea typeface="Noto Color Emoji" pitchFamily="34" charset="-122"/>
                <a:cs typeface="Noto Color Emoji" pitchFamily="34" charset="-120"/>
              </a:rPr>
              <a:t>📧</a:t>
            </a:r>
            <a:pPr algn="l" indent="0" marL="0">
              <a:lnSpc>
                <a:spcPct val="100000"/>
              </a:lnSpc>
              <a:buNone/>
            </a:pPr>
            <a:r>
              <a:rPr lang="en-US" sz="800" dirty="0">
                <a:solidFill>
                  <a:srgbClr val="161613"/>
                </a:solidFill>
                <a:latin typeface="Inter" pitchFamily="34" charset="0"/>
                <a:ea typeface="Inter" pitchFamily="34" charset="-122"/>
                <a:cs typeface="Inter" pitchFamily="34" charset="-120"/>
              </a:rPr>
              <a:t> </a:t>
            </a:r>
            <a:pPr algn="l" indent="0" marL="0">
              <a:lnSpc>
                <a:spcPct val="100000"/>
              </a:lnSpc>
              <a:buNone/>
            </a:pPr>
            <a:r>
              <a:rPr lang="en-US" sz="800" b="1" u="sng" dirty="0">
                <a:solidFill>
                  <a:srgbClr val="28282F"/>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hannes.tegelbeckers@ovgu.de</a:t>
            </a:r>
            <a:endParaRPr lang="en-US" sz="800" dirty="0"/>
          </a:p>
          <a:p>
            <a:pPr algn="l" indent="0" marL="0">
              <a:lnSpc>
                <a:spcPct val="100000"/>
              </a:lnSpc>
              <a:buNone/>
            </a:pPr>
            <a:r>
              <a:rPr lang="en-US" sz="800" dirty="0">
                <a:solidFill>
                  <a:srgbClr val="000000"/>
                </a:solidFill>
                <a:latin typeface="Noto Color Emoji" pitchFamily="34" charset="0"/>
                <a:ea typeface="Noto Color Emoji" pitchFamily="34" charset="-122"/>
                <a:cs typeface="Noto Color Emoji" pitchFamily="34" charset="-120"/>
              </a:rPr>
              <a:t>📞</a:t>
            </a:r>
            <a:pPr algn="l" indent="0" marL="0">
              <a:lnSpc>
                <a:spcPct val="100000"/>
              </a:lnSpc>
              <a:buNone/>
            </a:pPr>
            <a:r>
              <a:rPr lang="en-US" sz="800" dirty="0">
                <a:solidFill>
                  <a:srgbClr val="161613"/>
                </a:solidFill>
                <a:latin typeface="Inter" pitchFamily="34" charset="0"/>
                <a:ea typeface="Inter" pitchFamily="34" charset="-122"/>
                <a:cs typeface="Inter" pitchFamily="34" charset="-120"/>
              </a:rPr>
              <a:t> +49 391 6756373</a:t>
            </a:r>
            <a:endParaRPr lang="en-US" sz="800" dirty="0"/>
          </a:p>
        </p:txBody>
      </p:sp>
      <p:pic>
        <p:nvPicPr>
          <p:cNvPr id="19" name="Image 0" descr="preencoded.png">    </p:cNvPr>
          <p:cNvPicPr>
            <a:picLocks noChangeAspect="1"/>
          </p:cNvPicPr>
          <p:nvPr/>
        </p:nvPicPr>
        <p:blipFill>
          <a:blip r:embed="rId2"/>
          <a:stretch>
            <a:fillRect/>
          </a:stretch>
        </p:blipFill>
        <p:spPr>
          <a:xfrm>
            <a:off x="7327816" y="3157141"/>
            <a:ext cx="4150117" cy="415022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8282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2026-10-02T10:40:47Z</dcterms:created>
  <dcterms:modified xsi:type="dcterms:W3CDTF">2026-10-02T10:40:47Z</dcterms:modified>
</cp:coreProperties>
</file>